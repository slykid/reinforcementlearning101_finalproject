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74" r:id="rId11"/>
    <p:sldId id="264" r:id="rId12"/>
    <p:sldId id="265" r:id="rId13"/>
    <p:sldId id="266" r:id="rId14"/>
    <p:sldId id="267" r:id="rId15"/>
    <p:sldId id="277" r:id="rId16"/>
    <p:sldId id="278" r:id="rId17"/>
    <p:sldId id="280" r:id="rId18"/>
    <p:sldId id="269" r:id="rId19"/>
  </p:sldIdLst>
  <p:sldSz cx="12192000" cy="6858000"/>
  <p:notesSz cx="6858000" cy="9144000"/>
  <p:embeddedFontLst>
    <p:embeddedFont>
      <p:font typeface="맑은 고딕" panose="020B0503020000020004" pitchFamily="34" charset="-127"/>
      <p:regular r:id="rId21"/>
      <p:bold r:id="rId22"/>
    </p:embeddedFont>
    <p:embeddedFont>
      <p:font typeface="JetBrains Mono" panose="02000009000000000000" pitchFamily="49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0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864E2E-C758-4251-AD2A-3C39F9BFEFAA}">
  <a:tblStyle styleId="{EE864E2E-C758-4251-AD2A-3C39F9BFEFA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01"/>
  </p:normalViewPr>
  <p:slideViewPr>
    <p:cSldViewPr snapToGrid="0">
      <p:cViewPr varScale="1">
        <p:scale>
          <a:sx n="123" d="100"/>
          <a:sy n="123" d="100"/>
        </p:scale>
        <p:origin x="6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9" name="Google Shape;2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455294" y="2389882"/>
            <a:ext cx="11281410" cy="1433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데이터센터</a:t>
            </a:r>
            <a:r>
              <a:rPr lang="en-US" sz="345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5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냉각비용</a:t>
            </a:r>
            <a:r>
              <a:rPr lang="en-US" sz="345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345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최적화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45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강화학습</a:t>
            </a:r>
            <a:r>
              <a:rPr lang="en-US" sz="345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5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기반</a:t>
            </a:r>
            <a:r>
              <a:rPr lang="en-US" sz="345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5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자율</a:t>
            </a:r>
            <a:r>
              <a:rPr lang="en-US" sz="345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5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제어</a:t>
            </a:r>
            <a:r>
              <a:rPr lang="en-US" sz="345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5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연구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526090-DFAC-4EC5-8E6B-587639DC1C60}"/>
              </a:ext>
            </a:extLst>
          </p:cNvPr>
          <p:cNvSpPr txBox="1"/>
          <p:nvPr/>
        </p:nvSpPr>
        <p:spPr>
          <a:xfrm>
            <a:off x="364340" y="5295411"/>
            <a:ext cx="48141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dirty="0">
                <a:solidFill>
                  <a:schemeClr val="bg1"/>
                </a:solidFill>
              </a:rPr>
              <a:t>A72024 </a:t>
            </a:r>
            <a:r>
              <a:rPr kumimoji="1" lang="ko-KR" altLang="en-US" sz="2400" dirty="0">
                <a:solidFill>
                  <a:schemeClr val="bg1"/>
                </a:solidFill>
              </a:rPr>
              <a:t>김길현 </a:t>
            </a:r>
            <a:r>
              <a:rPr kumimoji="1" lang="en-US" altLang="ko-KR" sz="2400" dirty="0">
                <a:solidFill>
                  <a:schemeClr val="bg1"/>
                </a:solidFill>
              </a:rPr>
              <a:t>/</a:t>
            </a:r>
            <a:r>
              <a:rPr kumimoji="1" lang="ko-KR" altLang="en-US" sz="2400" dirty="0">
                <a:solidFill>
                  <a:schemeClr val="bg1"/>
                </a:solidFill>
              </a:rPr>
              <a:t> </a:t>
            </a:r>
            <a:r>
              <a:rPr kumimoji="1" lang="en-US" altLang="ko-KR" sz="2400" dirty="0">
                <a:solidFill>
                  <a:schemeClr val="bg1"/>
                </a:solidFill>
              </a:rPr>
              <a:t>A72027</a:t>
            </a:r>
            <a:r>
              <a:rPr kumimoji="1" lang="ko-KR" altLang="en-US" sz="2400" dirty="0">
                <a:solidFill>
                  <a:schemeClr val="bg1"/>
                </a:solidFill>
              </a:rPr>
              <a:t> 김민경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6C686E-23F6-E1B3-9473-EABBDDA88DA4}"/>
              </a:ext>
            </a:extLst>
          </p:cNvPr>
          <p:cNvSpPr txBox="1"/>
          <p:nvPr/>
        </p:nvSpPr>
        <p:spPr>
          <a:xfrm>
            <a:off x="364340" y="5845872"/>
            <a:ext cx="6463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 err="1">
                <a:solidFill>
                  <a:schemeClr val="bg1"/>
                </a:solidFill>
              </a:rPr>
              <a:t>Github</a:t>
            </a:r>
            <a:r>
              <a:rPr kumimoji="1" lang="en-US" altLang="ko-KR" b="1" dirty="0">
                <a:solidFill>
                  <a:schemeClr val="bg1"/>
                </a:solidFill>
              </a:rPr>
              <a:t>:</a:t>
            </a:r>
            <a:r>
              <a:rPr kumimoji="1" lang="ko-KR" altLang="en-US" b="1" dirty="0">
                <a:solidFill>
                  <a:schemeClr val="bg1"/>
                </a:solidFill>
              </a:rPr>
              <a:t> </a:t>
            </a:r>
            <a:r>
              <a:rPr kumimoji="1" lang="en" altLang="ko-KR" b="1" dirty="0">
                <a:solidFill>
                  <a:schemeClr val="bg1"/>
                </a:solidFill>
              </a:rPr>
              <a:t>https://</a:t>
            </a:r>
            <a:r>
              <a:rPr kumimoji="1" lang="en" altLang="ko-KR" b="1" dirty="0" err="1">
                <a:solidFill>
                  <a:schemeClr val="bg1"/>
                </a:solidFill>
              </a:rPr>
              <a:t>github.com</a:t>
            </a:r>
            <a:r>
              <a:rPr kumimoji="1" lang="en" altLang="ko-KR" b="1" dirty="0">
                <a:solidFill>
                  <a:schemeClr val="bg1"/>
                </a:solidFill>
              </a:rPr>
              <a:t>/</a:t>
            </a:r>
            <a:r>
              <a:rPr kumimoji="1" lang="en" altLang="ko-KR" b="1" dirty="0" err="1">
                <a:solidFill>
                  <a:schemeClr val="bg1"/>
                </a:solidFill>
              </a:rPr>
              <a:t>slykid</a:t>
            </a:r>
            <a:r>
              <a:rPr kumimoji="1" lang="en" altLang="ko-KR" b="1" dirty="0">
                <a:solidFill>
                  <a:schemeClr val="bg1"/>
                </a:solidFill>
              </a:rPr>
              <a:t>/ReinforcementLearning101_FinalProject</a:t>
            </a:r>
            <a:endParaRPr kumimoji="1"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C01A9F-BD70-67FC-F361-77836335768A}"/>
              </a:ext>
            </a:extLst>
          </p:cNvPr>
          <p:cNvSpPr txBox="1"/>
          <p:nvPr/>
        </p:nvSpPr>
        <p:spPr>
          <a:xfrm>
            <a:off x="364340" y="4879515"/>
            <a:ext cx="3602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dirty="0">
                <a:solidFill>
                  <a:schemeClr val="bg1"/>
                </a:solidFill>
              </a:rPr>
              <a:t>서강대학교 </a:t>
            </a:r>
            <a:r>
              <a:rPr kumimoji="1" lang="en-US" altLang="ko-KR" sz="2400" dirty="0">
                <a:solidFill>
                  <a:schemeClr val="bg1"/>
                </a:solidFill>
              </a:rPr>
              <a:t>AI/SW</a:t>
            </a:r>
            <a:r>
              <a:rPr kumimoji="1" lang="ko-KR" altLang="en-US" sz="2400" dirty="0">
                <a:solidFill>
                  <a:schemeClr val="bg1"/>
                </a:solidFill>
              </a:rPr>
              <a:t>대학원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08669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2075557"/>
            <a:ext cx="5205412" cy="3411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4" y="2609851"/>
            <a:ext cx="5205412" cy="341173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228873" y="2324107"/>
            <a:ext cx="4645424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역할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2656582"/>
            <a:ext cx="4652962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김</a:t>
            </a:r>
            <a:r>
              <a:rPr lang="ko-KR" altLang="en-US" sz="12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길현</a:t>
            </a:r>
            <a:r>
              <a:rPr lang="en-US" sz="1200" b="1" i="0" u="none" strike="noStrike" cap="none" dirty="0">
                <a:solidFill>
                  <a:schemeClr val="bg1"/>
                </a:solidFill>
                <a:sym typeface="Arial"/>
              </a:rPr>
              <a:t> (A72024)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4038600"/>
            <a:ext cx="4652962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김</a:t>
            </a:r>
            <a:r>
              <a:rPr lang="ko-KR" altLang="en-US" sz="12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민경</a:t>
            </a:r>
            <a:r>
              <a:rPr lang="en-US" sz="1200" b="1" i="0" u="none" strike="noStrike" cap="none" dirty="0">
                <a:solidFill>
                  <a:schemeClr val="bg1"/>
                </a:solidFill>
                <a:sym typeface="Arial"/>
              </a:rPr>
              <a:t> (A72027)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767661" y="2324107"/>
            <a:ext cx="4645424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FFFFFF"/>
                </a:solidFill>
              </a:rPr>
              <a:t>목차</a:t>
            </a:r>
            <a:r>
              <a:rPr lang="en-US" sz="135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(Index)</a:t>
            </a:r>
            <a:endParaRPr dirty="0"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0125" y="2342257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190625" y="2995612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BD5E1"/>
                </a:solidFill>
              </a:rPr>
              <a:t>MDP </a:t>
            </a:r>
            <a:r>
              <a:rPr lang="ko-KR" altLang="en-US" sz="1200" dirty="0">
                <a:solidFill>
                  <a:srgbClr val="CBD5E1"/>
                </a:solidFill>
              </a:rPr>
              <a:t>시뮬레이터 수식 구체화 및 검증</a:t>
            </a:r>
            <a:endParaRPr sz="1200"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1190625" y="3324225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9955"/>
              </a:lnSpc>
            </a:pPr>
            <a:r>
              <a:rPr lang="en-US" altLang="ko-KR" sz="1200" dirty="0">
                <a:solidFill>
                  <a:srgbClr val="CBD5E1"/>
                </a:solidFill>
              </a:rPr>
              <a:t>RL </a:t>
            </a:r>
            <a:r>
              <a:rPr lang="ko-KR" altLang="en-US" sz="1200" dirty="0">
                <a:solidFill>
                  <a:srgbClr val="CBD5E1"/>
                </a:solidFill>
              </a:rPr>
              <a:t>에이전트</a:t>
            </a:r>
            <a:r>
              <a:rPr lang="en-US" altLang="ko-KR" sz="1200" dirty="0">
                <a:solidFill>
                  <a:srgbClr val="CBD5E1"/>
                </a:solidFill>
              </a:rPr>
              <a:t>(SAC, TD3, PPO) </a:t>
            </a:r>
            <a:r>
              <a:rPr lang="ko-KR" altLang="en-US" sz="1200" dirty="0">
                <a:solidFill>
                  <a:srgbClr val="CBD5E1"/>
                </a:solidFill>
              </a:rPr>
              <a:t>코딩 및 학습 수행</a:t>
            </a:r>
            <a:endParaRPr lang="ko-KR" altLang="en-US" sz="1200"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1190625" y="3652837"/>
            <a:ext cx="446246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시뮬레이터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환경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학습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인프라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실험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1190625" y="4377630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MDP </a:t>
            </a:r>
            <a:r>
              <a:rPr lang="ko-KR" altLang="en-US" sz="1200" dirty="0">
                <a:solidFill>
                  <a:srgbClr val="CBD5E1"/>
                </a:solidFill>
              </a:rPr>
              <a:t>수식 모델 수립</a:t>
            </a:r>
            <a:endParaRPr sz="1200"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1190625" y="4706242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CBD5E1"/>
                </a:solidFill>
              </a:rPr>
              <a:t>시뮬레이터 환경 및 학습 인프라 실험 설계</a:t>
            </a:r>
            <a:endParaRPr sz="1200"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1190625" y="5034855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rgbClr val="CBD5E1"/>
                </a:solidFill>
              </a:rPr>
              <a:t>프로젝트 총괄 기획 및 타겟 정의</a:t>
            </a:r>
            <a:endParaRPr sz="1200" dirty="0"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8912" y="2342257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729412" y="2656582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01.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프로젝트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배경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문제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endParaRPr sz="1200"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6729412" y="3013769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02.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MDP(Markov Decision Process)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 sz="1200"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6729412" y="3370957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03.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실험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환경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구성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및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알고리즘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학습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설정</a:t>
            </a:r>
            <a:endParaRPr sz="1200"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6729412" y="3728144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04.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학습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및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디버깅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원인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규명</a:t>
            </a:r>
            <a:endParaRPr sz="1200"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6729412" y="4085332"/>
            <a:ext cx="4462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05.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최종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결론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및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향후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상용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연구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개발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과제</a:t>
            </a:r>
            <a:endParaRPr sz="1200"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1000125" y="3005137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000125" y="3333750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000125" y="3662362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000125" y="4387155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000125" y="4715767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000125" y="5044380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538912" y="2666107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538912" y="3023294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538912" y="3380482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538912" y="3737669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538912" y="4094857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723900" y="496729"/>
            <a:ext cx="1128141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구성원 및 </a:t>
            </a:r>
            <a:r>
              <a:rPr lang="en-US" sz="32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sz="1800" dirty="0"/>
          </a:p>
        </p:txBody>
      </p:sp>
      <p:sp>
        <p:nvSpPr>
          <p:cNvPr id="125" name="Google Shape;125;p14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2687" y="2233612"/>
            <a:ext cx="5205412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723900" y="2386905"/>
            <a:ext cx="546568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냉각</a:t>
            </a:r>
            <a:r>
              <a:rPr lang="en-US" sz="15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부하와</a:t>
            </a:r>
            <a:r>
              <a:rPr lang="en-US" sz="15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에너지</a:t>
            </a:r>
            <a:r>
              <a:rPr lang="en-US" sz="15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낭비의</a:t>
            </a:r>
            <a:r>
              <a:rPr lang="en-US" sz="15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고리</a:t>
            </a:r>
            <a:endParaRPr dirty="0"/>
          </a:p>
        </p:txBody>
      </p:sp>
      <p:sp>
        <p:nvSpPr>
          <p:cNvPr id="133" name="Google Shape;133;p15"/>
          <p:cNvSpPr txBox="1"/>
          <p:nvPr/>
        </p:nvSpPr>
        <p:spPr>
          <a:xfrm>
            <a:off x="723900" y="2758380"/>
            <a:ext cx="52054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세계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데이터센터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총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에너지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소모의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약</a:t>
            </a: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40% </a:t>
            </a:r>
            <a:r>
              <a:rPr lang="en-US" sz="12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가량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이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서버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열기를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식히기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위한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인프라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냉각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전력에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집중됩니다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34" name="Google Shape;134;p15"/>
          <p:cNvSpPr txBox="1"/>
          <p:nvPr/>
        </p:nvSpPr>
        <p:spPr>
          <a:xfrm>
            <a:off x="723900" y="4977705"/>
            <a:ext cx="5205412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▲ 동적 열 관리를 위한 정밀 인공지능 기반 자율 냉각 솔루션 전환 시급</a:t>
            </a:r>
            <a:endParaRPr/>
          </a:p>
        </p:txBody>
      </p:sp>
      <p:pic>
        <p:nvPicPr>
          <p:cNvPr id="135" name="Google Shape;13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2212" y="2243137"/>
            <a:ext cx="5186362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2415480"/>
            <a:ext cx="14823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914400" y="3358455"/>
            <a:ext cx="501491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경험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의존적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운영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정책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인력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관리자의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과거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경험에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기대어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임기응변식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제어로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대응함에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따라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일관된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정책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수립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불가능</a:t>
            </a:r>
            <a:endParaRPr sz="1200" dirty="0"/>
          </a:p>
        </p:txBody>
      </p:sp>
      <p:sp>
        <p:nvSpPr>
          <p:cNvPr id="138" name="Google Shape;138;p15"/>
          <p:cNvSpPr txBox="1"/>
          <p:nvPr/>
        </p:nvSpPr>
        <p:spPr>
          <a:xfrm>
            <a:off x="914400" y="3882330"/>
            <a:ext cx="501491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고정 임계치 제어 방식: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외기 온도 변화나 IT 트래픽 로드의 역동적 변화에 즉각 대응하지 못하는 규칙 기반 제어의 한계</a:t>
            </a:r>
            <a:endParaRPr sz="1200"/>
          </a:p>
        </p:txBody>
      </p:sp>
      <p:sp>
        <p:nvSpPr>
          <p:cNvPr id="139" name="Google Shape;139;p15"/>
          <p:cNvSpPr txBox="1"/>
          <p:nvPr/>
        </p:nvSpPr>
        <p:spPr>
          <a:xfrm>
            <a:off x="914400" y="4406205"/>
            <a:ext cx="501491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과냉각에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의한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에너지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손실</a:t>
            </a:r>
            <a:r>
              <a:rPr lang="en-US" sz="1200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안전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범위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마진을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초과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확보하여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유발되는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불필요한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과냉각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현상이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심각한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예산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낭비를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초래</a:t>
            </a:r>
            <a:endParaRPr sz="1200" dirty="0"/>
          </a:p>
        </p:txBody>
      </p:sp>
      <p:sp>
        <p:nvSpPr>
          <p:cNvPr id="140" name="Google Shape;140;p15"/>
          <p:cNvSpPr txBox="1"/>
          <p:nvPr/>
        </p:nvSpPr>
        <p:spPr>
          <a:xfrm>
            <a:off x="723900" y="3367980"/>
            <a:ext cx="1047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sz="1200"/>
          </a:p>
        </p:txBody>
      </p:sp>
      <p:sp>
        <p:nvSpPr>
          <p:cNvPr id="141" name="Google Shape;141;p15"/>
          <p:cNvSpPr txBox="1"/>
          <p:nvPr/>
        </p:nvSpPr>
        <p:spPr>
          <a:xfrm>
            <a:off x="723900" y="3891855"/>
            <a:ext cx="1047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sz="1200"/>
          </a:p>
        </p:txBody>
      </p:sp>
      <p:sp>
        <p:nvSpPr>
          <p:cNvPr id="142" name="Google Shape;142;p15"/>
          <p:cNvSpPr txBox="1"/>
          <p:nvPr/>
        </p:nvSpPr>
        <p:spPr>
          <a:xfrm>
            <a:off x="723900" y="4415730"/>
            <a:ext cx="1047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sz="1200"/>
          </a:p>
        </p:txBody>
      </p:sp>
      <p:sp>
        <p:nvSpPr>
          <p:cNvPr id="143" name="Google Shape;143;p15"/>
          <p:cNvSpPr txBox="1"/>
          <p:nvPr/>
        </p:nvSpPr>
        <p:spPr>
          <a:xfrm>
            <a:off x="723900" y="558284"/>
            <a:ext cx="112814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프로젝트 배경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데이터센터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냉각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현황</a:t>
            </a:r>
            <a:r>
              <a:rPr lang="en-US" sz="2400" b="1" dirty="0">
                <a:solidFill>
                  <a:srgbClr val="FFFFFF"/>
                </a:solidFill>
              </a:rPr>
              <a:t>) </a:t>
            </a:r>
            <a:r>
              <a:rPr lang="ko-KR" altLang="en-US" sz="2400" b="1" dirty="0">
                <a:solidFill>
                  <a:srgbClr val="FFFFFF"/>
                </a:solidFill>
              </a:rPr>
              <a:t>및 목적</a:t>
            </a:r>
            <a:endParaRPr dirty="0"/>
          </a:p>
        </p:txBody>
      </p:sp>
      <p:sp>
        <p:nvSpPr>
          <p:cNvPr id="144" name="Google Shape;144;p15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2633662"/>
            <a:ext cx="3454449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8849" y="2633662"/>
            <a:ext cx="3454449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13799" y="2633662"/>
            <a:ext cx="3454449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65300" y="292893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1475924" y="3690937"/>
            <a:ext cx="195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지속 가능한 에너지 절감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42975" y="4033837"/>
            <a:ext cx="301629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전력사용효율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(PUE)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지수를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극단적으로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최소화하는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냉각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설비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매개변수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실시간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조정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및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낭비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전력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비용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200" dirty="0">
                <a:solidFill>
                  <a:srgbClr val="94A3B8"/>
                </a:solidFill>
              </a:rPr>
              <a:t>절감 가능</a:t>
            </a:r>
            <a:endParaRPr sz="1200" dirty="0"/>
          </a:p>
        </p:txBody>
      </p:sp>
      <p:pic>
        <p:nvPicPr>
          <p:cNvPr id="156" name="Google Shape;15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92893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5120874" y="3690937"/>
            <a:ext cx="195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철저한 장비 안전성 유지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4587924" y="4033837"/>
            <a:ext cx="301629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무작위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배치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작업이나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딥러닝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연산으로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발생하는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서버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랙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과열을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전방위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모니터링하여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지정된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안전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범위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내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통제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및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다운타임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제로</a:t>
            </a:r>
            <a:endParaRPr sz="1200" dirty="0"/>
          </a:p>
        </p:txBody>
      </p:sp>
      <p:pic>
        <p:nvPicPr>
          <p:cNvPr id="159" name="Google Shape;15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55199" y="292893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8755670" y="3690937"/>
            <a:ext cx="19705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24시간 완전 자율 자동화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8232874" y="4033837"/>
            <a:ext cx="318827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지리적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계절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기후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낮밤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일교차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) 및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실시간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부하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변조를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스스로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학습하여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인력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의존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및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수작업에서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완벽히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탈피</a:t>
            </a:r>
            <a:endParaRPr sz="1200" dirty="0"/>
          </a:p>
        </p:txBody>
      </p:sp>
      <p:sp>
        <p:nvSpPr>
          <p:cNvPr id="165" name="Google Shape;165;p16"/>
          <p:cNvSpPr txBox="1"/>
          <p:nvPr/>
        </p:nvSpPr>
        <p:spPr>
          <a:xfrm>
            <a:off x="723900" y="558284"/>
            <a:ext cx="112814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강화학습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</a:rPr>
              <a:t>적용 시 해결점</a:t>
            </a:r>
            <a:endParaRPr dirty="0"/>
          </a:p>
        </p:txBody>
      </p:sp>
      <p:sp>
        <p:nvSpPr>
          <p:cNvPr id="166" name="Google Shape;166;p16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6C0729B-2055-4560-BAE9-E1B5E7E372B4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  <a:lum bright="70000" contrast="-70000"/>
          </a:blip>
          <a:stretch>
            <a:fillRect/>
          </a:stretch>
        </p:blipFill>
        <p:spPr>
          <a:xfrm>
            <a:off x="1857214" y="2370760"/>
            <a:ext cx="1081639" cy="108163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CFC78F1-2E1E-41DB-9C35-DAD0EDB48DC7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/>
            <a:lum bright="70000" contrast="-70000"/>
          </a:blip>
          <a:stretch>
            <a:fillRect/>
          </a:stretch>
        </p:blipFill>
        <p:spPr>
          <a:xfrm>
            <a:off x="5331165" y="2404577"/>
            <a:ext cx="1081639" cy="108163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5E09408-2759-4259-A82B-4FDE23584CBF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/>
            <a:lum bright="70000" contrast="-70000"/>
          </a:blip>
          <a:stretch>
            <a:fillRect/>
          </a:stretch>
        </p:blipFill>
        <p:spPr>
          <a:xfrm>
            <a:off x="9133649" y="2376169"/>
            <a:ext cx="1052831" cy="10528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449CDF0-2E28-4B9B-A332-16F9D93B9869}"/>
              </a:ext>
            </a:extLst>
          </p:cNvPr>
          <p:cNvGrpSpPr/>
          <p:nvPr/>
        </p:nvGrpSpPr>
        <p:grpSpPr>
          <a:xfrm>
            <a:off x="2653298" y="1370956"/>
            <a:ext cx="6212111" cy="228600"/>
            <a:chOff x="7699685" y="1190625"/>
            <a:chExt cx="6212111" cy="228600"/>
          </a:xfrm>
        </p:grpSpPr>
        <p:sp>
          <p:nvSpPr>
            <p:cNvPr id="180" name="Google Shape;180;p17"/>
            <p:cNvSpPr txBox="1"/>
            <p:nvPr/>
          </p:nvSpPr>
          <p:spPr>
            <a:xfrm>
              <a:off x="7958552" y="1190625"/>
              <a:ext cx="59532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u="none" strike="noStrike" cap="none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복합</a:t>
              </a:r>
              <a:r>
                <a:rPr lang="en-US" sz="1350" b="1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350" b="1" i="0" u="none" strike="noStrike" cap="none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리워드</a:t>
              </a:r>
              <a:r>
                <a:rPr lang="en-US" sz="1350" b="1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350" b="1" i="0" u="none" strike="noStrike" cap="none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목적</a:t>
              </a:r>
              <a:r>
                <a:rPr lang="en-US" sz="1350" b="1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350" b="1" i="0" u="none" strike="noStrike" cap="none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수식</a:t>
              </a:r>
              <a:r>
                <a:rPr lang="en-US" sz="1350" b="1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350" b="1" i="0" u="none" strike="noStrike" cap="none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정의</a:t>
              </a:r>
              <a:endParaRPr dirty="0"/>
            </a:p>
          </p:txBody>
        </p:sp>
        <p:pic>
          <p:nvPicPr>
            <p:cNvPr id="182" name="Google Shape;182;p17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699685" y="1219200"/>
              <a:ext cx="133498" cy="1714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3" name="Google Shape;18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12165" y="1703438"/>
            <a:ext cx="7150864" cy="29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723900" y="558284"/>
            <a:ext cx="112814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MDP State, Action, Reward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문제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</a:rPr>
              <a:t>정의</a:t>
            </a:r>
            <a:endParaRPr dirty="0"/>
          </a:p>
        </p:txBody>
      </p:sp>
      <p:sp>
        <p:nvSpPr>
          <p:cNvPr id="191" name="Google Shape;191;p17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F0556E7-86D6-4DA5-A331-29A4B31FF43D}"/>
              </a:ext>
            </a:extLst>
          </p:cNvPr>
          <p:cNvGrpSpPr/>
          <p:nvPr/>
        </p:nvGrpSpPr>
        <p:grpSpPr>
          <a:xfrm>
            <a:off x="1376695" y="2471000"/>
            <a:ext cx="2647169" cy="3956021"/>
            <a:chOff x="1406736" y="1603021"/>
            <a:chExt cx="2647169" cy="3956021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9F66265-135D-465F-B760-830EEE073EA5}"/>
                </a:ext>
              </a:extLst>
            </p:cNvPr>
            <p:cNvSpPr txBox="1"/>
            <p:nvPr/>
          </p:nvSpPr>
          <p:spPr>
            <a:xfrm>
              <a:off x="1540727" y="1603021"/>
              <a:ext cx="9233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400" b="1" dirty="0">
                  <a:solidFill>
                    <a:schemeClr val="bg1"/>
                  </a:solidFill>
                </a:rPr>
                <a:t>State</a:t>
              </a:r>
              <a:endParaRPr kumimoji="1"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F2D1931-D080-4F44-8380-572AE11EC2E3}"/>
                </a:ext>
              </a:extLst>
            </p:cNvPr>
            <p:cNvSpPr txBox="1"/>
            <p:nvPr/>
          </p:nvSpPr>
          <p:spPr>
            <a:xfrm>
              <a:off x="1407027" y="2279507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>
                  <a:solidFill>
                    <a:schemeClr val="bg1"/>
                  </a:solidFill>
                </a:rPr>
                <a:t>실내온도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3265BDA-6E90-4B93-81B1-7CFF6362B652}"/>
                </a:ext>
              </a:extLst>
            </p:cNvPr>
            <p:cNvSpPr txBox="1"/>
            <p:nvPr/>
          </p:nvSpPr>
          <p:spPr>
            <a:xfrm>
              <a:off x="1407027" y="3111269"/>
              <a:ext cx="22894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 err="1">
                  <a:solidFill>
                    <a:schemeClr val="bg1"/>
                  </a:solidFill>
                </a:rPr>
                <a:t>랙별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 CPU 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부하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×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10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388FF68-504F-42F4-BAAB-65123DD64300}"/>
                </a:ext>
              </a:extLst>
            </p:cNvPr>
            <p:cNvSpPr txBox="1"/>
            <p:nvPr/>
          </p:nvSpPr>
          <p:spPr>
            <a:xfrm>
              <a:off x="1407027" y="3525589"/>
              <a:ext cx="1768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 err="1">
                  <a:solidFill>
                    <a:schemeClr val="bg1"/>
                  </a:solidFill>
                </a:rPr>
                <a:t>랙별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온도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×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10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5D566B0-0509-4699-97F0-1497FEDED07B}"/>
                </a:ext>
              </a:extLst>
            </p:cNvPr>
            <p:cNvSpPr txBox="1"/>
            <p:nvPr/>
          </p:nvSpPr>
          <p:spPr>
            <a:xfrm>
              <a:off x="1407027" y="3940344"/>
              <a:ext cx="2416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 err="1">
                  <a:solidFill>
                    <a:schemeClr val="bg1"/>
                  </a:solidFill>
                </a:rPr>
                <a:t>냉각유닛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팬 속도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×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3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C0D9019-3B3D-4C3D-A9B7-BDA75FF82F5A}"/>
                </a:ext>
              </a:extLst>
            </p:cNvPr>
            <p:cNvSpPr txBox="1"/>
            <p:nvPr/>
          </p:nvSpPr>
          <p:spPr>
            <a:xfrm>
              <a:off x="1407027" y="4354664"/>
              <a:ext cx="26468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 err="1">
                  <a:solidFill>
                    <a:schemeClr val="bg1"/>
                  </a:solidFill>
                </a:rPr>
                <a:t>냉각유닛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냉수 유량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×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3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2D6FA7-AF20-4CEB-9757-702A1C02E952}"/>
                </a:ext>
              </a:extLst>
            </p:cNvPr>
            <p:cNvSpPr txBox="1"/>
            <p:nvPr/>
          </p:nvSpPr>
          <p:spPr>
            <a:xfrm>
              <a:off x="1406736" y="4766083"/>
              <a:ext cx="1685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ko-KR" dirty="0">
                  <a:solidFill>
                    <a:schemeClr val="bg1"/>
                  </a:solidFill>
                </a:rPr>
                <a:t>시간대 </a:t>
              </a:r>
              <a:r>
                <a:rPr lang="ko-KR" altLang="ko-KR" dirty="0" err="1">
                  <a:solidFill>
                    <a:schemeClr val="bg1"/>
                  </a:solidFill>
                </a:rPr>
                <a:t>sin</a:t>
              </a:r>
              <a:r>
                <a:rPr lang="ko-KR" altLang="ko-KR" dirty="0">
                  <a:solidFill>
                    <a:schemeClr val="bg1"/>
                  </a:solidFill>
                </a:rPr>
                <a:t>/</a:t>
              </a:r>
              <a:r>
                <a:rPr lang="ko-KR" altLang="ko-KR" dirty="0" err="1">
                  <a:solidFill>
                    <a:schemeClr val="bg1"/>
                  </a:solidFill>
                </a:rPr>
                <a:t>cos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744E8EE-88D4-4659-859F-C2FC662F72C4}"/>
                </a:ext>
              </a:extLst>
            </p:cNvPr>
            <p:cNvSpPr txBox="1"/>
            <p:nvPr/>
          </p:nvSpPr>
          <p:spPr>
            <a:xfrm>
              <a:off x="1406736" y="5189710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>
                  <a:solidFill>
                    <a:schemeClr val="bg1"/>
                  </a:solidFill>
                </a:rPr>
                <a:t>이전 행동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B588AEA-3C96-46D9-8374-E1D43052F591}"/>
              </a:ext>
            </a:extLst>
          </p:cNvPr>
          <p:cNvGrpSpPr/>
          <p:nvPr/>
        </p:nvGrpSpPr>
        <p:grpSpPr>
          <a:xfrm>
            <a:off x="4749007" y="2471000"/>
            <a:ext cx="2186752" cy="2292422"/>
            <a:chOff x="5002624" y="1603021"/>
            <a:chExt cx="2186752" cy="229242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9C5787D-4B94-49E3-8C93-CA5E94B6F2B3}"/>
                </a:ext>
              </a:extLst>
            </p:cNvPr>
            <p:cNvSpPr txBox="1"/>
            <p:nvPr/>
          </p:nvSpPr>
          <p:spPr>
            <a:xfrm>
              <a:off x="5308137" y="1603021"/>
              <a:ext cx="11336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400" b="1" dirty="0">
                  <a:solidFill>
                    <a:schemeClr val="bg1"/>
                  </a:solidFill>
                </a:rPr>
                <a:t>Action</a:t>
              </a:r>
              <a:endParaRPr kumimoji="1"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17E210E-7576-4C33-BB33-3462CE24E0F6}"/>
                </a:ext>
              </a:extLst>
            </p:cNvPr>
            <p:cNvSpPr txBox="1"/>
            <p:nvPr/>
          </p:nvSpPr>
          <p:spPr>
            <a:xfrm>
              <a:off x="5002624" y="2279507"/>
              <a:ext cx="1954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>
                  <a:solidFill>
                    <a:schemeClr val="bg1"/>
                  </a:solidFill>
                </a:rPr>
                <a:t>팬 속도 설정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×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3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CAD9504-B4AB-4649-9C03-D4E5BB93E261}"/>
                </a:ext>
              </a:extLst>
            </p:cNvPr>
            <p:cNvSpPr txBox="1"/>
            <p:nvPr/>
          </p:nvSpPr>
          <p:spPr>
            <a:xfrm>
              <a:off x="5002624" y="2693317"/>
              <a:ext cx="2185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>
                  <a:solidFill>
                    <a:schemeClr val="bg1"/>
                  </a:solidFill>
                </a:rPr>
                <a:t>냉수 유량 설정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×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3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E5FB60A-7C3D-4DC5-8085-1B9397D9E072}"/>
                </a:ext>
              </a:extLst>
            </p:cNvPr>
            <p:cNvSpPr txBox="1"/>
            <p:nvPr/>
          </p:nvSpPr>
          <p:spPr>
            <a:xfrm>
              <a:off x="5002624" y="3114892"/>
              <a:ext cx="17331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>
                  <a:solidFill>
                    <a:schemeClr val="bg1"/>
                  </a:solidFill>
                </a:rPr>
                <a:t>연속 행동 공간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7CF2390-988A-4392-AEB3-49D7FE7E460B}"/>
                </a:ext>
              </a:extLst>
            </p:cNvPr>
            <p:cNvSpPr txBox="1"/>
            <p:nvPr/>
          </p:nvSpPr>
          <p:spPr>
            <a:xfrm>
              <a:off x="5002624" y="3526111"/>
              <a:ext cx="21867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solidFill>
                    <a:schemeClr val="bg1"/>
                  </a:solidFill>
                </a:rPr>
                <a:t>SAC/TD3/PPO 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적합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F1C1DC5-C4BB-4396-9ABF-1475D6859FE7}"/>
              </a:ext>
            </a:extLst>
          </p:cNvPr>
          <p:cNvGrpSpPr/>
          <p:nvPr/>
        </p:nvGrpSpPr>
        <p:grpSpPr>
          <a:xfrm>
            <a:off x="8085762" y="2471000"/>
            <a:ext cx="3079689" cy="2706655"/>
            <a:chOff x="8784169" y="1603021"/>
            <a:chExt cx="3079689" cy="2706655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1551DDD-CDAE-49B7-A228-9A13695CE093}"/>
                </a:ext>
              </a:extLst>
            </p:cNvPr>
            <p:cNvSpPr txBox="1"/>
            <p:nvPr/>
          </p:nvSpPr>
          <p:spPr>
            <a:xfrm>
              <a:off x="9123781" y="1603021"/>
              <a:ext cx="12728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400" b="1" dirty="0">
                  <a:solidFill>
                    <a:schemeClr val="bg1"/>
                  </a:solidFill>
                </a:rPr>
                <a:t>Reward</a:t>
              </a:r>
              <a:endParaRPr kumimoji="1" lang="ko-KR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D9078A8-48ED-4A2E-82B1-205D21719446}"/>
                </a:ext>
              </a:extLst>
            </p:cNvPr>
            <p:cNvSpPr txBox="1"/>
            <p:nvPr/>
          </p:nvSpPr>
          <p:spPr>
            <a:xfrm>
              <a:off x="8784169" y="2279507"/>
              <a:ext cx="22701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 err="1">
                  <a:solidFill>
                    <a:schemeClr val="bg1"/>
                  </a:solidFill>
                </a:rPr>
                <a:t>r_energy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=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-(PUE-1)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3E8DF62-5868-46F2-8C75-1B22A95F93B2}"/>
                </a:ext>
              </a:extLst>
            </p:cNvPr>
            <p:cNvSpPr txBox="1"/>
            <p:nvPr/>
          </p:nvSpPr>
          <p:spPr>
            <a:xfrm>
              <a:off x="8784169" y="2693317"/>
              <a:ext cx="29799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 err="1">
                  <a:solidFill>
                    <a:schemeClr val="bg1"/>
                  </a:solidFill>
                </a:rPr>
                <a:t>r_temp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=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-|T-22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℃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|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/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range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B8BF5EC-623D-42C7-88AC-E851F55A7CE0}"/>
                </a:ext>
              </a:extLst>
            </p:cNvPr>
            <p:cNvSpPr txBox="1"/>
            <p:nvPr/>
          </p:nvSpPr>
          <p:spPr>
            <a:xfrm>
              <a:off x="8784169" y="3118094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 err="1">
                  <a:solidFill>
                    <a:schemeClr val="bg1"/>
                  </a:solidFill>
                </a:rPr>
                <a:t>r_safety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=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안전 위반 </a:t>
              </a:r>
              <a:r>
                <a:rPr kumimoji="1" lang="ko-KR" altLang="en-US" dirty="0" err="1">
                  <a:solidFill>
                    <a:schemeClr val="bg1"/>
                  </a:solidFill>
                </a:rPr>
                <a:t>패널티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E3741A7-EEB3-4339-AB5B-B0C5CC62DA9B}"/>
                </a:ext>
              </a:extLst>
            </p:cNvPr>
            <p:cNvSpPr txBox="1"/>
            <p:nvPr/>
          </p:nvSpPr>
          <p:spPr>
            <a:xfrm>
              <a:off x="8784169" y="3525589"/>
              <a:ext cx="3047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 err="1">
                  <a:solidFill>
                    <a:schemeClr val="bg1"/>
                  </a:solidFill>
                </a:rPr>
                <a:t>r_overcool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=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과냉각 </a:t>
              </a:r>
              <a:r>
                <a:rPr kumimoji="1" lang="ko-KR" altLang="en-US" dirty="0" err="1">
                  <a:solidFill>
                    <a:schemeClr val="bg1"/>
                  </a:solidFill>
                </a:rPr>
                <a:t>패널티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FD212A2-5C83-42E7-B048-EDF3F1127BF9}"/>
                </a:ext>
              </a:extLst>
            </p:cNvPr>
            <p:cNvSpPr txBox="1"/>
            <p:nvPr/>
          </p:nvSpPr>
          <p:spPr>
            <a:xfrm>
              <a:off x="8784169" y="3940344"/>
              <a:ext cx="26260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>
                  <a:solidFill>
                    <a:schemeClr val="bg1"/>
                  </a:solidFill>
                </a:rPr>
                <a:t>가중치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=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1.0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/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2.0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/</a:t>
              </a:r>
              <a:r>
                <a:rPr kumimoji="1" lang="ko-KR" altLang="en-US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dirty="0">
                  <a:solidFill>
                    <a:schemeClr val="bg1"/>
                  </a:solidFill>
                </a:rPr>
                <a:t>5.0</a:t>
              </a:r>
              <a:endParaRPr kumimoji="1" lang="ko-KR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BEEBEDB-3768-4049-B3F3-845EF6ED3190}"/>
              </a:ext>
            </a:extLst>
          </p:cNvPr>
          <p:cNvSpPr txBox="1"/>
          <p:nvPr/>
        </p:nvSpPr>
        <p:spPr>
          <a:xfrm>
            <a:off x="1376695" y="356533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solidFill>
                  <a:schemeClr val="bg1"/>
                </a:solidFill>
              </a:rPr>
              <a:t>외기온도</a:t>
            </a:r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6E87BC95-4B80-CD5A-26CE-9E6131AB3E0C}"/>
              </a:ext>
            </a:extLst>
          </p:cNvPr>
          <p:cNvCxnSpPr>
            <a:cxnSpLocks/>
          </p:cNvCxnSpPr>
          <p:nvPr/>
        </p:nvCxnSpPr>
        <p:spPr>
          <a:xfrm>
            <a:off x="1123720" y="3009784"/>
            <a:ext cx="943043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/>
          <p:nvPr/>
        </p:nvSpPr>
        <p:spPr>
          <a:xfrm>
            <a:off x="723900" y="558284"/>
            <a:ext cx="112814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FFFFFF"/>
                </a:solidFill>
              </a:rPr>
              <a:t>실험 환경 및 학습 설정</a:t>
            </a:r>
            <a:endParaRPr dirty="0"/>
          </a:p>
        </p:txBody>
      </p:sp>
      <p:sp>
        <p:nvSpPr>
          <p:cNvPr id="215" name="Google Shape;215;p18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7EC6B24F-EADE-4A21-8642-02EC14945B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777958"/>
              </p:ext>
            </p:extLst>
          </p:nvPr>
        </p:nvGraphicFramePr>
        <p:xfrm>
          <a:off x="575734" y="3110092"/>
          <a:ext cx="530041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9733">
                  <a:extLst>
                    <a:ext uri="{9D8B030D-6E8A-4147-A177-3AD203B41FA5}">
                      <a16:colId xmlns:a16="http://schemas.microsoft.com/office/drawing/2014/main" val="3339100903"/>
                    </a:ext>
                  </a:extLst>
                </a:gridCol>
                <a:gridCol w="3200677">
                  <a:extLst>
                    <a:ext uri="{9D8B030D-6E8A-4147-A177-3AD203B41FA5}">
                      <a16:colId xmlns:a16="http://schemas.microsoft.com/office/drawing/2014/main" val="1511429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서버 </a:t>
                      </a:r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랙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개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(8~12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kW / </a:t>
                      </a:r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랙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95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냉각 유닛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개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CRAC (max 50 kW)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1696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냉각 전력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800" b="0" dirty="0" err="1">
                          <a:solidFill>
                            <a:schemeClr val="bg1"/>
                          </a:solidFill>
                        </a:rPr>
                        <a:t>팬</a:t>
                      </a:r>
                      <a:r>
                        <a:rPr lang="en-US" altLang="ko-KR" sz="1800" b="0" dirty="0">
                          <a:solidFill>
                            <a:schemeClr val="bg1"/>
                          </a:solidFill>
                        </a:rPr>
                        <a:t> + </a:t>
                      </a:r>
                      <a:r>
                        <a:rPr lang="en-US" altLang="ko-KR" sz="1800" b="0" dirty="0" err="1">
                          <a:solidFill>
                            <a:schemeClr val="bg1"/>
                          </a:solidFill>
                        </a:rPr>
                        <a:t>칠러</a:t>
                      </a:r>
                      <a:r>
                        <a:rPr lang="en-US" altLang="ko-KR" sz="1800" b="0" dirty="0">
                          <a:solidFill>
                            <a:schemeClr val="bg1"/>
                          </a:solidFill>
                        </a:rPr>
                        <a:t>  PUE 1.1~1.8</a:t>
                      </a:r>
                      <a:endParaRPr lang="ko-KR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2729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시뮬레이션 단위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분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(288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step / ep)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0844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외기 온도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5~30℃ (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일교차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4~12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℃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5822344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5E1000E-F983-4DC3-9D7B-378E8CC74DFF}"/>
              </a:ext>
            </a:extLst>
          </p:cNvPr>
          <p:cNvSpPr txBox="1"/>
          <p:nvPr/>
        </p:nvSpPr>
        <p:spPr>
          <a:xfrm>
            <a:off x="1604886" y="2232800"/>
            <a:ext cx="3242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 err="1">
                <a:solidFill>
                  <a:schemeClr val="bg1"/>
                </a:solidFill>
              </a:rPr>
              <a:t>DataCenterSimulator</a:t>
            </a:r>
            <a:endParaRPr kumimoji="1"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B97795-74AE-4B77-87B4-19A27B5D1923}"/>
              </a:ext>
            </a:extLst>
          </p:cNvPr>
          <p:cNvSpPr txBox="1"/>
          <p:nvPr/>
        </p:nvSpPr>
        <p:spPr>
          <a:xfrm>
            <a:off x="7192886" y="2232800"/>
            <a:ext cx="3701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chemeClr val="bg1"/>
                </a:solidFill>
              </a:rPr>
              <a:t>부하 시나리오</a:t>
            </a:r>
            <a:r>
              <a:rPr kumimoji="1" lang="en-US" altLang="ko-KR" sz="2400" b="1" dirty="0">
                <a:solidFill>
                  <a:schemeClr val="bg1"/>
                </a:solidFill>
              </a:rPr>
              <a:t>(</a:t>
            </a:r>
            <a:r>
              <a:rPr kumimoji="1" lang="ko-KR" altLang="en-US" sz="2400" b="1" dirty="0">
                <a:solidFill>
                  <a:schemeClr val="bg1"/>
                </a:solidFill>
              </a:rPr>
              <a:t>랜덤 선택</a:t>
            </a:r>
            <a:r>
              <a:rPr kumimoji="1" lang="en-US" altLang="ko-KR" sz="2400" b="1" dirty="0">
                <a:solidFill>
                  <a:schemeClr val="bg1"/>
                </a:solidFill>
              </a:rPr>
              <a:t>)</a:t>
            </a:r>
            <a:endParaRPr kumimoji="1" lang="ko-KR" alt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1C5D176A-389D-45B2-82F4-0AEB12810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492392"/>
              </p:ext>
            </p:extLst>
          </p:nvPr>
        </p:nvGraphicFramePr>
        <p:xfrm>
          <a:off x="6393508" y="3110092"/>
          <a:ext cx="530041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7070">
                  <a:extLst>
                    <a:ext uri="{9D8B030D-6E8A-4147-A177-3AD203B41FA5}">
                      <a16:colId xmlns:a16="http://schemas.microsoft.com/office/drawing/2014/main" val="3339100903"/>
                    </a:ext>
                  </a:extLst>
                </a:gridCol>
                <a:gridCol w="3543340">
                  <a:extLst>
                    <a:ext uri="{9D8B030D-6E8A-4147-A177-3AD203B41FA5}">
                      <a16:colId xmlns:a16="http://schemas.microsoft.com/office/drawing/2014/main" val="1511429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Normal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평일 업무 패턴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주간 피크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295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High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고부하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(AI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학습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배치작업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1696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Low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0" dirty="0" err="1">
                          <a:solidFill>
                            <a:schemeClr val="bg1"/>
                          </a:solidFill>
                        </a:rPr>
                        <a:t>저부하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야간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주말</a:t>
                      </a:r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2729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Variable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불규칙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랜덤 스파이크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1~3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회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0844520"/>
                  </a:ext>
                </a:extLst>
              </a:tr>
            </a:tbl>
          </a:graphicData>
        </a:graphic>
      </p:graphicFrame>
      <p:pic>
        <p:nvPicPr>
          <p:cNvPr id="2" name="Google Shape;248;p19" descr="image.png">
            <a:extLst>
              <a:ext uri="{FF2B5EF4-FFF2-40B4-BE49-F238E27FC236}">
                <a16:creationId xmlns:a16="http://schemas.microsoft.com/office/drawing/2014/main" id="{1BDB1F27-1666-DB19-82CB-4221A88BFD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7359" y="2387402"/>
            <a:ext cx="133498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48;p19" descr="image.png">
            <a:extLst>
              <a:ext uri="{FF2B5EF4-FFF2-40B4-BE49-F238E27FC236}">
                <a16:creationId xmlns:a16="http://schemas.microsoft.com/office/drawing/2014/main" id="{5019C871-F6F4-8296-0919-B37151C3F8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25975" y="2398418"/>
            <a:ext cx="133498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734" y="2640792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9"/>
          <p:cNvSpPr txBox="1"/>
          <p:nvPr/>
        </p:nvSpPr>
        <p:spPr>
          <a:xfrm>
            <a:off x="723900" y="533400"/>
            <a:ext cx="1128141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3대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강화학습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알고리즘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하이퍼파라미터</a:t>
            </a:r>
            <a:endParaRPr dirty="0"/>
          </a:p>
        </p:txBody>
      </p:sp>
      <p:sp>
        <p:nvSpPr>
          <p:cNvPr id="256" name="Google Shape;256;p19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BCD9B342-6702-44DB-9C5E-5260DDB2B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812251"/>
              </p:ext>
            </p:extLst>
          </p:nvPr>
        </p:nvGraphicFramePr>
        <p:xfrm>
          <a:off x="5896723" y="3081867"/>
          <a:ext cx="5655983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7094">
                  <a:extLst>
                    <a:ext uri="{9D8B030D-6E8A-4147-A177-3AD203B41FA5}">
                      <a16:colId xmlns:a16="http://schemas.microsoft.com/office/drawing/2014/main" val="2303971492"/>
                    </a:ext>
                  </a:extLst>
                </a:gridCol>
                <a:gridCol w="1196622">
                  <a:extLst>
                    <a:ext uri="{9D8B030D-6E8A-4147-A177-3AD203B41FA5}">
                      <a16:colId xmlns:a16="http://schemas.microsoft.com/office/drawing/2014/main" val="936208268"/>
                    </a:ext>
                  </a:extLst>
                </a:gridCol>
                <a:gridCol w="1241778">
                  <a:extLst>
                    <a:ext uri="{9D8B030D-6E8A-4147-A177-3AD203B41FA5}">
                      <a16:colId xmlns:a16="http://schemas.microsoft.com/office/drawing/2014/main" val="2484337980"/>
                    </a:ext>
                  </a:extLst>
                </a:gridCol>
                <a:gridCol w="1230489">
                  <a:extLst>
                    <a:ext uri="{9D8B030D-6E8A-4147-A177-3AD203B41FA5}">
                      <a16:colId xmlns:a16="http://schemas.microsoft.com/office/drawing/2014/main" val="3738024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파라미터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SAC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TD3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PPO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3181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bg1"/>
                          </a:solidFill>
                        </a:rPr>
                        <a:t>learning_rate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1e-4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1e-4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3e-4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9069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bg1"/>
                          </a:solidFill>
                        </a:rPr>
                        <a:t>buffer_size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300,000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300,000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9682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bg1"/>
                          </a:solidFill>
                        </a:rPr>
                        <a:t>batch_size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256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256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64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9477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bg1"/>
                          </a:solidFill>
                        </a:rPr>
                        <a:t>n_step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1/step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episode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2,048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8459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bg1"/>
                          </a:solidFill>
                        </a:rPr>
                        <a:t>ent_coef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auto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0.0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801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bg1"/>
                          </a:solidFill>
                        </a:rPr>
                        <a:t>total_step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1,000,000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1,000,000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1,000,000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8191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</a:rPr>
                        <a:t>Network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[256,256]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[256,256]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[256,256]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7266228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6862AF88-1EA2-4B74-A51C-084231D9899E}"/>
              </a:ext>
            </a:extLst>
          </p:cNvPr>
          <p:cNvSpPr txBox="1"/>
          <p:nvPr/>
        </p:nvSpPr>
        <p:spPr>
          <a:xfrm>
            <a:off x="7776921" y="2490479"/>
            <a:ext cx="2563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 err="1">
                <a:solidFill>
                  <a:schemeClr val="bg1"/>
                </a:solidFill>
              </a:rPr>
              <a:t>하이퍼파라미터</a:t>
            </a:r>
            <a:r>
              <a:rPr kumimoji="1" lang="ko-KR" altLang="en-US" sz="2000" b="1" dirty="0">
                <a:solidFill>
                  <a:schemeClr val="bg1"/>
                </a:solidFill>
              </a:rPr>
              <a:t> 비교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BD4999B-97F6-4207-9F84-7E67F2297379}"/>
              </a:ext>
            </a:extLst>
          </p:cNvPr>
          <p:cNvGrpSpPr/>
          <p:nvPr/>
        </p:nvGrpSpPr>
        <p:grpSpPr>
          <a:xfrm>
            <a:off x="754828" y="3040572"/>
            <a:ext cx="3840158" cy="530577"/>
            <a:chOff x="790222" y="3081867"/>
            <a:chExt cx="3840158" cy="530577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FD1ABCA-DEE7-4E4A-86B6-6B35A5B8F53B}"/>
                </a:ext>
              </a:extLst>
            </p:cNvPr>
            <p:cNvGrpSpPr/>
            <p:nvPr/>
          </p:nvGrpSpPr>
          <p:grpSpPr>
            <a:xfrm>
              <a:off x="790222" y="3081867"/>
              <a:ext cx="1038578" cy="530577"/>
              <a:chOff x="790222" y="3081867"/>
              <a:chExt cx="1038578" cy="530577"/>
            </a:xfrm>
          </p:grpSpPr>
          <p:sp>
            <p:nvSpPr>
              <p:cNvPr id="44" name="모서리가 둥근 직사각형 7">
                <a:extLst>
                  <a:ext uri="{FF2B5EF4-FFF2-40B4-BE49-F238E27FC236}">
                    <a16:creationId xmlns:a16="http://schemas.microsoft.com/office/drawing/2014/main" id="{C797D096-E873-4CA5-AF1C-3B227CE0BC93}"/>
                  </a:ext>
                </a:extLst>
              </p:cNvPr>
              <p:cNvSpPr/>
              <p:nvPr/>
            </p:nvSpPr>
            <p:spPr>
              <a:xfrm>
                <a:off x="790222" y="3081867"/>
                <a:ext cx="1038578" cy="530577"/>
              </a:xfrm>
              <a:prstGeom prst="round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B440EF8-5913-4F3D-8915-1C7E7983D2B8}"/>
                  </a:ext>
                </a:extLst>
              </p:cNvPr>
              <p:cNvSpPr txBox="1"/>
              <p:nvPr/>
            </p:nvSpPr>
            <p:spPr>
              <a:xfrm>
                <a:off x="1027222" y="3191572"/>
                <a:ext cx="56457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ko-KR" b="1" dirty="0">
                    <a:solidFill>
                      <a:schemeClr val="bg1"/>
                    </a:solidFill>
                  </a:rPr>
                  <a:t>SAC</a:t>
                </a:r>
                <a:endParaRPr kumimoji="1" lang="ko-KR" altLang="en-US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725C7EF-6120-4296-A067-4DFDA6A3AF47}"/>
                </a:ext>
              </a:extLst>
            </p:cNvPr>
            <p:cNvSpPr txBox="1"/>
            <p:nvPr/>
          </p:nvSpPr>
          <p:spPr>
            <a:xfrm>
              <a:off x="2038004" y="3081867"/>
              <a:ext cx="25923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solidFill>
                    <a:schemeClr val="bg1"/>
                  </a:solidFill>
                </a:rPr>
                <a:t>최대</a:t>
              </a:r>
              <a:r>
                <a:rPr lang="en-US" altLang="ko-KR" sz="1400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엔트로피</a:t>
              </a:r>
              <a:r>
                <a:rPr lang="en-US" altLang="ko-KR" sz="1400" dirty="0">
                  <a:solidFill>
                    <a:schemeClr val="bg1"/>
                  </a:solidFill>
                </a:rPr>
                <a:t> + α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자동</a:t>
              </a:r>
              <a:r>
                <a:rPr lang="en-US" altLang="ko-KR" sz="1400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튜닝</a:t>
              </a:r>
              <a:r>
                <a:rPr lang="en-US" altLang="ko-KR" sz="1400" dirty="0">
                  <a:solidFill>
                    <a:schemeClr val="bg1"/>
                  </a:solidFill>
                </a:rPr>
                <a:t> </a:t>
              </a:r>
            </a:p>
            <a:p>
              <a:r>
                <a:rPr lang="en-US" altLang="ko-KR" sz="1400" dirty="0">
                  <a:solidFill>
                    <a:schemeClr val="bg1"/>
                  </a:solidFill>
                </a:rPr>
                <a:t>→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탐색</a:t>
              </a:r>
              <a:r>
                <a:rPr lang="en-US" altLang="ko-KR" sz="1400" dirty="0">
                  <a:solidFill>
                    <a:schemeClr val="bg1"/>
                  </a:solidFill>
                </a:rPr>
                <a:t>/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활용</a:t>
              </a:r>
              <a:r>
                <a:rPr lang="en-US" altLang="ko-KR" sz="1400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자동</a:t>
              </a:r>
              <a:r>
                <a:rPr lang="en-US" altLang="ko-KR" sz="1400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균형</a:t>
              </a:r>
              <a:endParaRPr lang="en-US" altLang="ko-KR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EFEA897-AAA4-49DE-B3CE-260FAC898EAE}"/>
              </a:ext>
            </a:extLst>
          </p:cNvPr>
          <p:cNvGrpSpPr/>
          <p:nvPr/>
        </p:nvGrpSpPr>
        <p:grpSpPr>
          <a:xfrm>
            <a:off x="754828" y="4027810"/>
            <a:ext cx="3854586" cy="530577"/>
            <a:chOff x="790222" y="4069105"/>
            <a:chExt cx="3854586" cy="530577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888A0000-F31B-4834-81CF-12FCDE89DC32}"/>
                </a:ext>
              </a:extLst>
            </p:cNvPr>
            <p:cNvGrpSpPr/>
            <p:nvPr/>
          </p:nvGrpSpPr>
          <p:grpSpPr>
            <a:xfrm>
              <a:off x="790222" y="4069105"/>
              <a:ext cx="1038578" cy="530577"/>
              <a:chOff x="790222" y="3081867"/>
              <a:chExt cx="1038578" cy="530577"/>
            </a:xfrm>
          </p:grpSpPr>
          <p:sp>
            <p:nvSpPr>
              <p:cNvPr id="49" name="모서리가 둥근 직사각형 11">
                <a:extLst>
                  <a:ext uri="{FF2B5EF4-FFF2-40B4-BE49-F238E27FC236}">
                    <a16:creationId xmlns:a16="http://schemas.microsoft.com/office/drawing/2014/main" id="{07059FA1-9F78-4473-82CA-E09B3C4886B2}"/>
                  </a:ext>
                </a:extLst>
              </p:cNvPr>
              <p:cNvSpPr/>
              <p:nvPr/>
            </p:nvSpPr>
            <p:spPr>
              <a:xfrm>
                <a:off x="790222" y="3081867"/>
                <a:ext cx="1038578" cy="530577"/>
              </a:xfrm>
              <a:prstGeom prst="round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A60BF70-CAA1-4F69-B7F1-200AED135207}"/>
                  </a:ext>
                </a:extLst>
              </p:cNvPr>
              <p:cNvSpPr txBox="1"/>
              <p:nvPr/>
            </p:nvSpPr>
            <p:spPr>
              <a:xfrm>
                <a:off x="1048060" y="3189588"/>
                <a:ext cx="5228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ko-KR" b="1" dirty="0">
                    <a:solidFill>
                      <a:schemeClr val="bg1"/>
                    </a:solidFill>
                  </a:rPr>
                  <a:t>TD3</a:t>
                </a:r>
                <a:endParaRPr kumimoji="1" lang="ko-KR" altLang="en-US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583449C-C1CB-4AD7-8EFD-F5C2A6B8E28C}"/>
                </a:ext>
              </a:extLst>
            </p:cNvPr>
            <p:cNvSpPr txBox="1"/>
            <p:nvPr/>
          </p:nvSpPr>
          <p:spPr>
            <a:xfrm>
              <a:off x="2038004" y="4069105"/>
              <a:ext cx="26068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solidFill>
                    <a:schemeClr val="bg1"/>
                  </a:solidFill>
                </a:rPr>
                <a:t>가우시안</a:t>
              </a:r>
              <a:r>
                <a:rPr lang="en-US" altLang="ko-KR" sz="1400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노이즈</a:t>
              </a:r>
              <a:r>
                <a:rPr lang="en-US" altLang="ko-KR" sz="1400" dirty="0">
                  <a:solidFill>
                    <a:schemeClr val="bg1"/>
                  </a:solidFill>
                </a:rPr>
                <a:t>(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σ</a:t>
              </a:r>
              <a:r>
                <a:rPr lang="en-US" altLang="ko-KR" sz="1400" dirty="0">
                  <a:solidFill>
                    <a:schemeClr val="bg1"/>
                  </a:solidFill>
                </a:rPr>
                <a:t>=0.1)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탐색</a:t>
              </a:r>
              <a:r>
                <a:rPr lang="en-US" altLang="ko-KR" sz="1400" dirty="0">
                  <a:solidFill>
                    <a:schemeClr val="bg1"/>
                  </a:solidFill>
                </a:rPr>
                <a:t>, </a:t>
              </a:r>
            </a:p>
            <a:p>
              <a:r>
                <a:rPr lang="en-US" altLang="ko-KR" sz="1400" dirty="0" err="1">
                  <a:solidFill>
                    <a:schemeClr val="bg1"/>
                  </a:solidFill>
                </a:rPr>
                <a:t>안정적</a:t>
              </a:r>
              <a:r>
                <a:rPr lang="en-US" altLang="ko-KR" sz="1400" dirty="0">
                  <a:solidFill>
                    <a:schemeClr val="bg1"/>
                  </a:solidFill>
                </a:rPr>
                <a:t> Off-policy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99614A8-91F7-43D3-96E6-0E0FE13B247B}"/>
              </a:ext>
            </a:extLst>
          </p:cNvPr>
          <p:cNvGrpSpPr/>
          <p:nvPr/>
        </p:nvGrpSpPr>
        <p:grpSpPr>
          <a:xfrm>
            <a:off x="754828" y="4993616"/>
            <a:ext cx="3642989" cy="530577"/>
            <a:chOff x="790222" y="5034911"/>
            <a:chExt cx="3642989" cy="530577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B528FDB8-49C4-42FA-849A-B00DB94DAF0B}"/>
                </a:ext>
              </a:extLst>
            </p:cNvPr>
            <p:cNvGrpSpPr/>
            <p:nvPr/>
          </p:nvGrpSpPr>
          <p:grpSpPr>
            <a:xfrm>
              <a:off x="790222" y="5034911"/>
              <a:ext cx="1038578" cy="530577"/>
              <a:chOff x="790222" y="3081867"/>
              <a:chExt cx="1038578" cy="530577"/>
            </a:xfrm>
          </p:grpSpPr>
          <p:sp>
            <p:nvSpPr>
              <p:cNvPr id="54" name="모서리가 둥근 직사각형 14">
                <a:extLst>
                  <a:ext uri="{FF2B5EF4-FFF2-40B4-BE49-F238E27FC236}">
                    <a16:creationId xmlns:a16="http://schemas.microsoft.com/office/drawing/2014/main" id="{60794FB7-645F-42E9-80EA-DDBF519C82A9}"/>
                  </a:ext>
                </a:extLst>
              </p:cNvPr>
              <p:cNvSpPr/>
              <p:nvPr/>
            </p:nvSpPr>
            <p:spPr>
              <a:xfrm>
                <a:off x="790222" y="3081867"/>
                <a:ext cx="1038578" cy="530577"/>
              </a:xfrm>
              <a:prstGeom prst="round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A75C50A-6AFA-4719-A912-14536759341A}"/>
                  </a:ext>
                </a:extLst>
              </p:cNvPr>
              <p:cNvSpPr txBox="1"/>
              <p:nvPr/>
            </p:nvSpPr>
            <p:spPr>
              <a:xfrm>
                <a:off x="1027222" y="3189588"/>
                <a:ext cx="56457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ko-KR" b="1" dirty="0">
                    <a:solidFill>
                      <a:schemeClr val="bg1"/>
                    </a:solidFill>
                  </a:rPr>
                  <a:t>PPO</a:t>
                </a:r>
                <a:endParaRPr kumimoji="1" lang="ko-KR" altLang="en-US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BC33F2F-CF5A-4EDE-AFCE-EFF3ECB60FCD}"/>
                </a:ext>
              </a:extLst>
            </p:cNvPr>
            <p:cNvSpPr txBox="1"/>
            <p:nvPr/>
          </p:nvSpPr>
          <p:spPr>
            <a:xfrm>
              <a:off x="2038004" y="5034911"/>
              <a:ext cx="239520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</a:rPr>
                <a:t>On-policy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롤아웃</a:t>
              </a:r>
              <a:r>
                <a:rPr lang="en-US" altLang="ko-KR" sz="1400" dirty="0">
                  <a:solidFill>
                    <a:schemeClr val="bg1"/>
                  </a:solidFill>
                </a:rPr>
                <a:t>, </a:t>
              </a:r>
            </a:p>
            <a:p>
              <a:r>
                <a:rPr lang="en-US" altLang="ko-KR" sz="1400" dirty="0" err="1">
                  <a:solidFill>
                    <a:schemeClr val="bg1"/>
                  </a:solidFill>
                </a:rPr>
                <a:t>clip_range</a:t>
              </a:r>
              <a:r>
                <a:rPr lang="en-US" altLang="ko-KR" sz="1400" dirty="0">
                  <a:solidFill>
                    <a:schemeClr val="bg1"/>
                  </a:solidFill>
                </a:rPr>
                <a:t>=0.2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안정적</a:t>
              </a:r>
              <a:r>
                <a:rPr lang="en-US" altLang="ko-KR" sz="1400" dirty="0">
                  <a:solidFill>
                    <a:schemeClr val="bg1"/>
                  </a:solidFill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</a:rPr>
                <a:t>수렴</a:t>
              </a:r>
              <a:endParaRPr lang="en-US" altLang="ko-KR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97A994A1-12B1-4E12-9365-D531A8928107}"/>
              </a:ext>
            </a:extLst>
          </p:cNvPr>
          <p:cNvSpPr txBox="1"/>
          <p:nvPr/>
        </p:nvSpPr>
        <p:spPr>
          <a:xfrm>
            <a:off x="1162727" y="2518994"/>
            <a:ext cx="17940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>
                <a:solidFill>
                  <a:schemeClr val="bg1"/>
                </a:solidFill>
              </a:rPr>
              <a:t>알고리즘 선택</a:t>
            </a:r>
          </a:p>
        </p:txBody>
      </p:sp>
      <p:pic>
        <p:nvPicPr>
          <p:cNvPr id="57" name="Google Shape;248;p19" descr="image.png">
            <a:extLst>
              <a:ext uri="{FF2B5EF4-FFF2-40B4-BE49-F238E27FC236}">
                <a16:creationId xmlns:a16="http://schemas.microsoft.com/office/drawing/2014/main" id="{71726066-2FF0-408B-9472-3C073963D8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8362" y="2616214"/>
            <a:ext cx="133498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2400300"/>
            <a:ext cx="5205412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7937" y="2409193"/>
            <a:ext cx="5205412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0"/>
          <p:cNvSpPr txBox="1"/>
          <p:nvPr/>
        </p:nvSpPr>
        <p:spPr>
          <a:xfrm>
            <a:off x="1228873" y="2638425"/>
            <a:ext cx="464542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초기 100k 학습 한계점 진단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6767661" y="2638425"/>
            <a:ext cx="464542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안정화 코드 리팩토링 및 튜닝</a:t>
            </a:r>
            <a:endParaRPr/>
          </a:p>
        </p:txBody>
      </p:sp>
      <p:pic>
        <p:nvPicPr>
          <p:cNvPr id="266" name="Google Shape;26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0125" y="2667000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0"/>
          <p:cNvSpPr txBox="1"/>
          <p:nvPr/>
        </p:nvSpPr>
        <p:spPr>
          <a:xfrm>
            <a:off x="1190625" y="2981325"/>
            <a:ext cx="44624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미약한 PUE 신호 피드백: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기존 냉방전력 계산 시 칠러 동력을 배제하고 팬 전력만 계산하여 PUE 변동 폭(0.02)이 너무 좁아 효율 최적화 곤란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1190625" y="3486150"/>
            <a:ext cx="44624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과도한 정책 보폭 (lr=3e-4):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업데이트 변동량이 너무 커 우수한 정책을 덮어써서 보상이 극심하게 요동침 (진동 폭 ±32)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1190625" y="3990975"/>
            <a:ext cx="44624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평가 시드 미고정 변동성: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고정 시드가 없어 부하 변조 차이로 인해 정책과 무관한 환경 변동 발생 (평가 분산 ±6.68)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1190625" y="4495800"/>
            <a:ext cx="44624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단순 부하 데이터 &amp; 관측 한계: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주기 사인파만 적용하였으며 관측(30차원) 시 이전 제어 동작 이력 배제</a:t>
            </a:r>
            <a:endParaRPr/>
          </a:p>
        </p:txBody>
      </p:sp>
      <p:pic>
        <p:nvPicPr>
          <p:cNvPr id="271" name="Google Shape;27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38912" y="2667000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0"/>
          <p:cNvSpPr txBox="1"/>
          <p:nvPr/>
        </p:nvSpPr>
        <p:spPr>
          <a:xfrm>
            <a:off x="6729412" y="2981325"/>
            <a:ext cx="44624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Chiller Power 추가: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칠러 압축기 동력을 수식 결합하여 PUE 동적 응답 범위(1.1~1.8)를 대폭 확장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6729412" y="3495991"/>
            <a:ext cx="455771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chiller_power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max_cool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* 0.25 *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water_flow</a:t>
            </a:r>
            <a:endParaRPr dirty="0"/>
          </a:p>
        </p:txBody>
      </p:sp>
      <p:sp>
        <p:nvSpPr>
          <p:cNvPr id="274" name="Google Shape;274;p20"/>
          <p:cNvSpPr txBox="1"/>
          <p:nvPr/>
        </p:nvSpPr>
        <p:spPr>
          <a:xfrm>
            <a:off x="6729412" y="3776662"/>
            <a:ext cx="44624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관측 확장 (36차원):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State 정보에 6차원의 '이전 행동(Previous Action)'을 결합하여 상태 정의 정확도 상향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6729412" y="4281487"/>
            <a:ext cx="44624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안정성 보정: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학습율 인하(3e-4→1e-4), 버퍼 확장(100k→300k), 에이전트 평가 시 일관된 고정 시드풀을 강제 순환하는 EvalEnvWrapper 구현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1000125" y="3004758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277" name="Google Shape;277;p20"/>
          <p:cNvSpPr txBox="1"/>
          <p:nvPr/>
        </p:nvSpPr>
        <p:spPr>
          <a:xfrm>
            <a:off x="1000125" y="3513060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278" name="Google Shape;278;p20"/>
          <p:cNvSpPr txBox="1"/>
          <p:nvPr/>
        </p:nvSpPr>
        <p:spPr>
          <a:xfrm>
            <a:off x="1003602" y="4010931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279" name="Google Shape;279;p20"/>
          <p:cNvSpPr txBox="1"/>
          <p:nvPr/>
        </p:nvSpPr>
        <p:spPr>
          <a:xfrm>
            <a:off x="1020262" y="4519612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280" name="Google Shape;280;p20"/>
          <p:cNvSpPr txBox="1"/>
          <p:nvPr/>
        </p:nvSpPr>
        <p:spPr>
          <a:xfrm>
            <a:off x="6538912" y="3023541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281" name="Google Shape;281;p20"/>
          <p:cNvSpPr txBox="1"/>
          <p:nvPr/>
        </p:nvSpPr>
        <p:spPr>
          <a:xfrm>
            <a:off x="6553273" y="3547560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◆</a:t>
            </a:r>
            <a:endParaRPr dirty="0"/>
          </a:p>
        </p:txBody>
      </p:sp>
      <p:sp>
        <p:nvSpPr>
          <p:cNvPr id="282" name="Google Shape;282;p20"/>
          <p:cNvSpPr txBox="1"/>
          <p:nvPr/>
        </p:nvSpPr>
        <p:spPr>
          <a:xfrm>
            <a:off x="6538912" y="3809162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283" name="Google Shape;283;p20"/>
          <p:cNvSpPr txBox="1"/>
          <p:nvPr/>
        </p:nvSpPr>
        <p:spPr>
          <a:xfrm>
            <a:off x="6538912" y="4304797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284" name="Google Shape;284;p20"/>
          <p:cNvSpPr txBox="1"/>
          <p:nvPr/>
        </p:nvSpPr>
        <p:spPr>
          <a:xfrm>
            <a:off x="723900" y="533400"/>
            <a:ext cx="1128141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1차 시행(100k) 실패 진단 및 개선안</a:t>
            </a:r>
            <a:endParaRPr/>
          </a:p>
        </p:txBody>
      </p:sp>
      <p:sp>
        <p:nvSpPr>
          <p:cNvPr id="285" name="Google Shape;285;p20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878B9-484E-EAC1-27BB-805E40412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96;p18" descr="image.png">
            <a:extLst>
              <a:ext uri="{FF2B5EF4-FFF2-40B4-BE49-F238E27FC236}">
                <a16:creationId xmlns:a16="http://schemas.microsoft.com/office/drawing/2014/main" id="{B67FF797-8C10-4856-A88E-47E5396472E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76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A229AA-E57F-E76A-1C1B-3746E8E4D629}"/>
              </a:ext>
            </a:extLst>
          </p:cNvPr>
          <p:cNvSpPr txBox="1"/>
          <p:nvPr/>
        </p:nvSpPr>
        <p:spPr>
          <a:xfrm>
            <a:off x="2412714" y="5706091"/>
            <a:ext cx="7446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>
                <a:solidFill>
                  <a:schemeClr val="bg1"/>
                </a:solidFill>
              </a:rPr>
              <a:t>세 알고리즘 모두 초기 수천 스텝 내에 과열로 인한 대형 </a:t>
            </a:r>
            <a:r>
              <a:rPr lang="ko-KR" altLang="ko-KR" sz="1400" dirty="0" err="1">
                <a:solidFill>
                  <a:schemeClr val="bg1"/>
                </a:solidFill>
              </a:rPr>
              <a:t>패널티</a:t>
            </a:r>
            <a:r>
              <a:rPr lang="ko-KR" altLang="ko-KR" sz="1400" dirty="0">
                <a:solidFill>
                  <a:schemeClr val="bg1"/>
                </a:solidFill>
              </a:rPr>
              <a:t> 구간을 빠르게 탈출한 뒤, </a:t>
            </a:r>
            <a:endParaRPr lang="en-US" altLang="ko-KR" sz="1400" dirty="0">
              <a:solidFill>
                <a:schemeClr val="bg1"/>
              </a:solidFill>
            </a:endParaRPr>
          </a:p>
          <a:p>
            <a:r>
              <a:rPr lang="ko-KR" altLang="ko-KR" sz="1400" dirty="0">
                <a:solidFill>
                  <a:schemeClr val="bg1"/>
                </a:solidFill>
              </a:rPr>
              <a:t>수십만 스텝에 걸쳐 점진적으로 </a:t>
            </a:r>
            <a:r>
              <a:rPr lang="ko-KR" altLang="ko-KR" sz="1400" dirty="0" err="1">
                <a:solidFill>
                  <a:schemeClr val="bg1"/>
                </a:solidFill>
              </a:rPr>
              <a:t>정밀화되며</a:t>
            </a:r>
            <a:r>
              <a:rPr lang="ko-KR" altLang="ko-KR" sz="1400" dirty="0">
                <a:solidFill>
                  <a:schemeClr val="bg1"/>
                </a:solidFill>
              </a:rPr>
              <a:t> 수렴(SAC·TD3 약 30만, PPO 약 15만 스텝). </a:t>
            </a:r>
            <a:endParaRPr lang="en-US" altLang="ko-KR" sz="1400" dirty="0">
              <a:solidFill>
                <a:schemeClr val="bg1"/>
              </a:solidFill>
            </a:endParaRPr>
          </a:p>
          <a:p>
            <a:r>
              <a:rPr lang="ko-KR" altLang="ko-KR" sz="1400" dirty="0">
                <a:solidFill>
                  <a:schemeClr val="bg1"/>
                </a:solidFill>
              </a:rPr>
              <a:t>이후 1M 스텝까지 안정적으로 유지.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5FACACE-D65A-0241-2FCA-F5EC0AF2D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158" y="1290958"/>
            <a:ext cx="8603683" cy="4253505"/>
          </a:xfrm>
          <a:prstGeom prst="rect">
            <a:avLst/>
          </a:prstGeom>
        </p:spPr>
      </p:pic>
      <p:sp>
        <p:nvSpPr>
          <p:cNvPr id="3" name="Google Shape;302;p21">
            <a:extLst>
              <a:ext uri="{FF2B5EF4-FFF2-40B4-BE49-F238E27FC236}">
                <a16:creationId xmlns:a16="http://schemas.microsoft.com/office/drawing/2014/main" id="{DF46BE8D-3ACD-6014-863C-252A9CC58131}"/>
              </a:ext>
            </a:extLst>
          </p:cNvPr>
          <p:cNvSpPr txBox="1"/>
          <p:nvPr/>
        </p:nvSpPr>
        <p:spPr>
          <a:xfrm>
            <a:off x="723900" y="558284"/>
            <a:ext cx="112814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4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</a:t>
            </a:r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4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수렴</a:t>
            </a:r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4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곡선</a:t>
            </a:r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(1M steps)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656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96;p18" descr="image.png">
            <a:extLst>
              <a:ext uri="{FF2B5EF4-FFF2-40B4-BE49-F238E27FC236}">
                <a16:creationId xmlns:a16="http://schemas.microsoft.com/office/drawing/2014/main" id="{B50BE4AA-887A-4963-BD59-566F8721E9D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76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340BF99-44DB-FDB8-075E-BE3EA0F9F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279" y="1355508"/>
            <a:ext cx="7772400" cy="5037325"/>
          </a:xfrm>
          <a:prstGeom prst="rect">
            <a:avLst/>
          </a:prstGeom>
        </p:spPr>
      </p:pic>
      <p:sp>
        <p:nvSpPr>
          <p:cNvPr id="4" name="Google Shape;302;p21">
            <a:extLst>
              <a:ext uri="{FF2B5EF4-FFF2-40B4-BE49-F238E27FC236}">
                <a16:creationId xmlns:a16="http://schemas.microsoft.com/office/drawing/2014/main" id="{8364232D-DFE8-5CAC-4EE6-AD2488CBA130}"/>
              </a:ext>
            </a:extLst>
          </p:cNvPr>
          <p:cNvSpPr txBox="1"/>
          <p:nvPr/>
        </p:nvSpPr>
        <p:spPr>
          <a:xfrm>
            <a:off x="723900" y="558284"/>
            <a:ext cx="112814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r>
              <a:rPr lang="ko-KR" alt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시계열 분석</a:t>
            </a:r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ko-KR" alt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대표 에피소드 비교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429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2233612"/>
            <a:ext cx="5205412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2233612"/>
            <a:ext cx="5205412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8675" y="2338387"/>
            <a:ext cx="4995862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1"/>
          <p:cNvSpPr txBox="1"/>
          <p:nvPr/>
        </p:nvSpPr>
        <p:spPr>
          <a:xfrm>
            <a:off x="6767661" y="2471737"/>
            <a:ext cx="464542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학습 수렴 거동 특성 분석</a:t>
            </a:r>
            <a:endParaRPr/>
          </a:p>
        </p:txBody>
      </p:sp>
      <p:pic>
        <p:nvPicPr>
          <p:cNvPr id="295" name="Google Shape;29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8912" y="2500312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1"/>
          <p:cNvSpPr txBox="1"/>
          <p:nvPr/>
        </p:nvSpPr>
        <p:spPr>
          <a:xfrm>
            <a:off x="6729412" y="2814637"/>
            <a:ext cx="44624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패널티 조기 극복: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세 에이전트 모두 초기 수만 스텝 내에 서버 과열로 인한 대형 패널티를 탈출하여 하드웨어 안정성 기반을 조기 획득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6729412" y="3338512"/>
            <a:ext cx="446246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PPO의 신속성: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수정된 가속 환경에서 가장 먼저 15만 Step 전후로 안정권 궤도 수렴 달성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6729412" y="3862387"/>
            <a:ext cx="4462462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TD3의 적응력 한계: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고부하, 저부하가 혼용된 4종 복합 시나리오 환경에서 고정된 가우시안 노이즈의 유연성 부족으로 100만 Step 내내 진동하는 양상 기록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6538912" y="2824162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6538912" y="3348037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6538912" y="3871912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723900" y="533400"/>
            <a:ext cx="1128141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100만 Step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장기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학습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알고리즘별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수렴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endParaRPr dirty="0"/>
          </a:p>
        </p:txBody>
      </p:sp>
      <p:sp>
        <p:nvSpPr>
          <p:cNvPr id="303" name="Google Shape;303;p21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1673572"/>
            <a:ext cx="10744200" cy="1605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1673572"/>
            <a:ext cx="5205412" cy="160585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1" name="Google Shape;311;p22"/>
          <p:cNvGraphicFramePr/>
          <p:nvPr>
            <p:extLst>
              <p:ext uri="{D42A27DB-BD31-4B8C-83A1-F6EECF244321}">
                <p14:modId xmlns:p14="http://schemas.microsoft.com/office/powerpoint/2010/main" val="3065722836"/>
              </p:ext>
            </p:extLst>
          </p:nvPr>
        </p:nvGraphicFramePr>
        <p:xfrm>
          <a:off x="723900" y="3517552"/>
          <a:ext cx="10744225" cy="2371675"/>
        </p:xfrm>
        <a:graphic>
          <a:graphicData uri="http://schemas.openxmlformats.org/drawingml/2006/table">
            <a:tbl>
              <a:tblPr firstRow="1" bandRow="1">
                <a:noFill/>
                <a:tableStyleId>{EE864E2E-C758-4251-AD2A-3C39F9BFEFAA}</a:tableStyleId>
              </a:tblPr>
              <a:tblGrid>
                <a:gridCol w="291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5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제어</a:t>
                      </a:r>
                      <a:r>
                        <a:rPr lang="en-US" sz="105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050" b="1" i="0" u="none" strike="noStrike" cap="none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알고리즘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평균 PUE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온도 이탈률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일간 냉각전력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PPO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1.1019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0.00%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202.3 kWh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SAC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1.1146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0.00%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209.6 kWh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TD3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1.1332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0.00%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238.5 kWh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Rule-based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1.2624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0.00%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453.0 kWh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Fixed-50%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1.3089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F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6.11% (</a:t>
                      </a:r>
                      <a:r>
                        <a:rPr lang="en-US" sz="1050" b="1" i="0" u="none" strike="noStrike" cap="none" dirty="0" err="1">
                          <a:solidFill>
                            <a:srgbClr val="EF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실패</a:t>
                      </a:r>
                      <a:r>
                        <a:rPr lang="en-US" sz="1050" b="1" i="0" u="none" strike="noStrike" cap="none" dirty="0">
                          <a:solidFill>
                            <a:srgbClr val="EF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377.6 kWh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2" name="Google Shape;312;p22"/>
          <p:cNvSpPr/>
          <p:nvPr/>
        </p:nvSpPr>
        <p:spPr>
          <a:xfrm>
            <a:off x="723900" y="3908077"/>
            <a:ext cx="2915394" cy="19050"/>
          </a:xfrm>
          <a:prstGeom prst="rect">
            <a:avLst/>
          </a:prstGeom>
          <a:solidFill>
            <a:srgbClr val="B6000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3639294" y="3908077"/>
            <a:ext cx="2206525" cy="19050"/>
          </a:xfrm>
          <a:prstGeom prst="rect">
            <a:avLst/>
          </a:prstGeom>
          <a:solidFill>
            <a:srgbClr val="B6000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5845819" y="3908077"/>
            <a:ext cx="2706588" cy="19050"/>
          </a:xfrm>
          <a:prstGeom prst="rect">
            <a:avLst/>
          </a:prstGeom>
          <a:solidFill>
            <a:srgbClr val="B6000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8552408" y="3908077"/>
            <a:ext cx="2915691" cy="19050"/>
          </a:xfrm>
          <a:prstGeom prst="rect">
            <a:avLst/>
          </a:prstGeom>
          <a:solidFill>
            <a:srgbClr val="B6000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6729561" y="1873597"/>
            <a:ext cx="472543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통계적 24시간 제어 데이터 비교</a:t>
            </a:r>
            <a:endParaRPr/>
          </a:p>
        </p:txBody>
      </p:sp>
      <p:sp>
        <p:nvSpPr>
          <p:cNvPr id="317" name="Google Shape;317;p22"/>
          <p:cNvSpPr/>
          <p:nvPr/>
        </p:nvSpPr>
        <p:spPr>
          <a:xfrm>
            <a:off x="723900" y="4312890"/>
            <a:ext cx="29153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3639294" y="4312890"/>
            <a:ext cx="22065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5845819" y="4312890"/>
            <a:ext cx="270658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8552408" y="4312890"/>
            <a:ext cx="29156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723900" y="4703415"/>
            <a:ext cx="29153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3639294" y="4703415"/>
            <a:ext cx="22065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5845819" y="4703415"/>
            <a:ext cx="270658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8552408" y="4703415"/>
            <a:ext cx="29156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723900" y="5093940"/>
            <a:ext cx="29153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3639294" y="5093940"/>
            <a:ext cx="22065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5845819" y="5093940"/>
            <a:ext cx="270658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8552408" y="5093940"/>
            <a:ext cx="29156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723900" y="5484465"/>
            <a:ext cx="29153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3639294" y="5484465"/>
            <a:ext cx="22065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5845819" y="5484465"/>
            <a:ext cx="270658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8552408" y="5484465"/>
            <a:ext cx="29156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723900" y="5874990"/>
            <a:ext cx="29153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3639294" y="5874990"/>
            <a:ext cx="22065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5845819" y="5874990"/>
            <a:ext cx="270658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8552408" y="5874990"/>
            <a:ext cx="29156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00812" y="1902172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2"/>
          <p:cNvSpPr txBox="1"/>
          <p:nvPr/>
        </p:nvSpPr>
        <p:spPr>
          <a:xfrm>
            <a:off x="6691312" y="2216497"/>
            <a:ext cx="453866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PPO 1등 </a:t>
            </a: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수렴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최종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PUE 1.10 대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최적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유지</a:t>
            </a:r>
            <a:endParaRPr dirty="0"/>
          </a:p>
        </p:txBody>
      </p:sp>
      <p:sp>
        <p:nvSpPr>
          <p:cNvPr id="339" name="Google Shape;339;p22"/>
          <p:cNvSpPr txBox="1"/>
          <p:nvPr/>
        </p:nvSpPr>
        <p:spPr>
          <a:xfrm>
            <a:off x="6691312" y="2507009"/>
            <a:ext cx="453866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안전성 100% 보장: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모든 RL 알고리즘 온도이탈률 0.0%</a:t>
            </a:r>
            <a:endParaRPr/>
          </a:p>
        </p:txBody>
      </p:sp>
      <p:sp>
        <p:nvSpPr>
          <p:cNvPr id="340" name="Google Shape;340;p22"/>
          <p:cNvSpPr txBox="1"/>
          <p:nvPr/>
        </p:nvSpPr>
        <p:spPr>
          <a:xfrm>
            <a:off x="6691312" y="2797522"/>
            <a:ext cx="453866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연간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수천만원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절감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데이터센터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스케일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비례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전력절감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효과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기대</a:t>
            </a:r>
            <a:endParaRPr dirty="0"/>
          </a:p>
        </p:txBody>
      </p:sp>
      <p:sp>
        <p:nvSpPr>
          <p:cNvPr id="341" name="Google Shape;341;p22"/>
          <p:cNvSpPr txBox="1"/>
          <p:nvPr/>
        </p:nvSpPr>
        <p:spPr>
          <a:xfrm>
            <a:off x="6500812" y="2226022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342" name="Google Shape;342;p22"/>
          <p:cNvSpPr txBox="1"/>
          <p:nvPr/>
        </p:nvSpPr>
        <p:spPr>
          <a:xfrm>
            <a:off x="6500812" y="2516534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343" name="Google Shape;343;p22"/>
          <p:cNvSpPr txBox="1"/>
          <p:nvPr/>
        </p:nvSpPr>
        <p:spPr>
          <a:xfrm>
            <a:off x="6500812" y="2807047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723900" y="533400"/>
            <a:ext cx="1128141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1M Step 학습 결과 모델 정량적 비교 평가</a:t>
            </a:r>
            <a:endParaRPr/>
          </a:p>
        </p:txBody>
      </p:sp>
      <p:sp>
        <p:nvSpPr>
          <p:cNvPr id="345" name="Google Shape;345;p22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2205037"/>
            <a:ext cx="5205412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2687" y="2205037"/>
            <a:ext cx="5205412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3"/>
          <p:cNvSpPr txBox="1"/>
          <p:nvPr/>
        </p:nvSpPr>
        <p:spPr>
          <a:xfrm>
            <a:off x="1228873" y="2443162"/>
            <a:ext cx="464542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물리 시계열 특징 추적</a:t>
            </a:r>
            <a:endParaRPr/>
          </a:p>
        </p:txBody>
      </p:sp>
      <p:sp>
        <p:nvSpPr>
          <p:cNvPr id="354" name="Google Shape;354;p23"/>
          <p:cNvSpPr txBox="1"/>
          <p:nvPr/>
        </p:nvSpPr>
        <p:spPr>
          <a:xfrm>
            <a:off x="6767661" y="2443162"/>
            <a:ext cx="464542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제어 동적 메커니즘 해석</a:t>
            </a:r>
            <a:endParaRPr/>
          </a:p>
        </p:txBody>
      </p:sp>
      <p:sp>
        <p:nvSpPr>
          <p:cNvPr id="355" name="Google Shape;355;p23"/>
          <p:cNvSpPr txBox="1"/>
          <p:nvPr/>
        </p:nvSpPr>
        <p:spPr>
          <a:xfrm>
            <a:off x="6538912" y="2813356"/>
            <a:ext cx="465296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Rule-based vs </a:t>
            </a:r>
            <a:r>
              <a:rPr lang="en-US" sz="12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RL의</a:t>
            </a: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본질적</a:t>
            </a: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차이점</a:t>
            </a: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기존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수동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룰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(Rule-based)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은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스위칭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밸브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개폐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압력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오차로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인해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불연속적인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헌팅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현상과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급격한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온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오프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피크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전력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소모가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불가피하게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발생합니다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 dirty="0"/>
          </a:p>
        </p:txBody>
      </p:sp>
      <p:sp>
        <p:nvSpPr>
          <p:cNvPr id="356" name="Google Shape;356;p23"/>
          <p:cNvSpPr txBox="1"/>
          <p:nvPr/>
        </p:nvSpPr>
        <p:spPr>
          <a:xfrm>
            <a:off x="6538912" y="3724629"/>
            <a:ext cx="465296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RL </a:t>
            </a:r>
            <a:r>
              <a:rPr lang="en-US" sz="12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제어</a:t>
            </a: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안정성</a:t>
            </a:r>
            <a:r>
              <a:rPr lang="en-US" sz="1200" b="1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본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연구에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사용된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RL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에이전트들은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연속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행동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제어를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통해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6차원 </a:t>
            </a:r>
            <a:b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출력을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초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단위로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평탄화하여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액추에이터의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물리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무리를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방지하고</a:t>
            </a:r>
            <a:r>
              <a:rPr lang="en-US" altLang="ko-KR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PUE를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1.1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부근으로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점진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제어합니다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 dirty="0"/>
          </a:p>
        </p:txBody>
      </p:sp>
      <p:pic>
        <p:nvPicPr>
          <p:cNvPr id="357" name="Google Shape;35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0125" y="2471737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3"/>
          <p:cNvSpPr txBox="1"/>
          <p:nvPr/>
        </p:nvSpPr>
        <p:spPr>
          <a:xfrm>
            <a:off x="1190625" y="2724590"/>
            <a:ext cx="4462462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안정적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열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고정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제어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(Fixed-50%)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가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부하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피크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시간대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(Step 50~100, 200~250)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에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과열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한계인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35°C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이탈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사고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(6.11%)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를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내는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반면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강화학습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에이전트들은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목표선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22℃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부근을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일정한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띠를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이루며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평탄하게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완벽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통제</a:t>
            </a:r>
            <a:endParaRPr dirty="0"/>
          </a:p>
        </p:txBody>
      </p:sp>
      <p:sp>
        <p:nvSpPr>
          <p:cNvPr id="359" name="Google Shape;359;p23"/>
          <p:cNvSpPr txBox="1"/>
          <p:nvPr/>
        </p:nvSpPr>
        <p:spPr>
          <a:xfrm>
            <a:off x="1190625" y="3738562"/>
            <a:ext cx="4462462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지능적 칠러/팬 가변 제어: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IT 전력 소모 가변성에 비례하여 에이전트들이 실시간 팬 속도와 유량을 적응 조정하여 급작스러운 전력 소모의 스파이크 최소화</a:t>
            </a:r>
            <a:endParaRPr/>
          </a:p>
        </p:txBody>
      </p:sp>
      <p:sp>
        <p:nvSpPr>
          <p:cNvPr id="360" name="Google Shape;360;p23"/>
          <p:cNvSpPr txBox="1"/>
          <p:nvPr/>
        </p:nvSpPr>
        <p:spPr>
          <a:xfrm>
            <a:off x="1190625" y="4519012"/>
            <a:ext cx="4462462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동적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냉방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댐핑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1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적용</a:t>
            </a:r>
            <a:r>
              <a:rPr lang="en-US" sz="1125" b="1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저부하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및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야간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유휴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시간대에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과감하게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유량을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줄여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칠러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에너지를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잠그는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전략을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학습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성공하여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비효율적인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과냉각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자동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방지</a:t>
            </a:r>
            <a:endParaRPr dirty="0"/>
          </a:p>
        </p:txBody>
      </p:sp>
      <p:pic>
        <p:nvPicPr>
          <p:cNvPr id="361" name="Google Shape;36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8912" y="2471737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3"/>
          <p:cNvSpPr txBox="1"/>
          <p:nvPr/>
        </p:nvSpPr>
        <p:spPr>
          <a:xfrm>
            <a:off x="1000125" y="2753325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363" name="Google Shape;363;p23"/>
          <p:cNvSpPr txBox="1"/>
          <p:nvPr/>
        </p:nvSpPr>
        <p:spPr>
          <a:xfrm>
            <a:off x="1000125" y="3763455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364" name="Google Shape;364;p23"/>
          <p:cNvSpPr txBox="1"/>
          <p:nvPr/>
        </p:nvSpPr>
        <p:spPr>
          <a:xfrm>
            <a:off x="1000125" y="4540063"/>
            <a:ext cx="1047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◆</a:t>
            </a:r>
            <a:endParaRPr dirty="0"/>
          </a:p>
        </p:txBody>
      </p:sp>
      <p:sp>
        <p:nvSpPr>
          <p:cNvPr id="365" name="Google Shape;365;p23"/>
          <p:cNvSpPr txBox="1"/>
          <p:nvPr/>
        </p:nvSpPr>
        <p:spPr>
          <a:xfrm>
            <a:off x="723900" y="533400"/>
            <a:ext cx="1128141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24시간 대표 에피소드 제어 양상 추이 분석</a:t>
            </a:r>
            <a:endParaRPr/>
          </a:p>
        </p:txBody>
      </p:sp>
      <p:sp>
        <p:nvSpPr>
          <p:cNvPr id="366" name="Google Shape;366;p23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1238250"/>
            <a:ext cx="5372100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2676525"/>
            <a:ext cx="5372100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4362450"/>
            <a:ext cx="537210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4"/>
          <p:cNvSpPr txBox="1"/>
          <p:nvPr/>
        </p:nvSpPr>
        <p:spPr>
          <a:xfrm>
            <a:off x="723900" y="533400"/>
            <a:ext cx="564070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심층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진단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왜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PPO가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최적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효율인가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dirty="0"/>
          </a:p>
        </p:txBody>
      </p:sp>
      <p:sp>
        <p:nvSpPr>
          <p:cNvPr id="377" name="Google Shape;377;p24"/>
          <p:cNvSpPr/>
          <p:nvPr/>
        </p:nvSpPr>
        <p:spPr>
          <a:xfrm>
            <a:off x="723900" y="952500"/>
            <a:ext cx="38100" cy="238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4"/>
          <p:cNvSpPr txBox="1"/>
          <p:nvPr/>
        </p:nvSpPr>
        <p:spPr>
          <a:xfrm>
            <a:off x="904875" y="1419225"/>
            <a:ext cx="526065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단순 환경 대 난제 환경에서의 거동</a:t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904875" y="1704975"/>
            <a:ext cx="50101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과거 단일 사인파 부하 환경에서는 최적화 제어선이 단순 결정론적으로 묶여 3개 알고리즘의 격차가 미비했습니다. 이에 본 연구에서는 4대 복합 시나리오를 구성하여 의도적으로 난이도를 대폭 상향 검증했습니다.</a:t>
            </a:r>
            <a:endParaRPr/>
          </a:p>
        </p:txBody>
      </p:sp>
      <p:sp>
        <p:nvSpPr>
          <p:cNvPr id="380" name="Google Shape;380;p24"/>
          <p:cNvSpPr txBox="1"/>
          <p:nvPr/>
        </p:nvSpPr>
        <p:spPr>
          <a:xfrm>
            <a:off x="904875" y="2857500"/>
            <a:ext cx="526065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알고리즘별 대안성 분석</a:t>
            </a:r>
            <a:endParaRPr/>
          </a:p>
        </p:txBody>
      </p:sp>
      <p:sp>
        <p:nvSpPr>
          <p:cNvPr id="381" name="Google Shape;381;p24"/>
          <p:cNvSpPr txBox="1"/>
          <p:nvPr/>
        </p:nvSpPr>
        <p:spPr>
          <a:xfrm>
            <a:off x="904875" y="3143250"/>
            <a:ext cx="5010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PPO의 압도적 강건성:</a:t>
            </a:r>
            <a:r>
              <a:rPr lang="en-US" sz="105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난도를 격상시켰을 때 PPO의 클리핑(Clipping) 기반 확률 정책이 과대 보정을 방지하며 가장 부드럽고 견고하게 환경 변동을 압도</a:t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904875" y="3590925"/>
            <a:ext cx="5010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60005"/>
                </a:solidFill>
                <a:latin typeface="Arial"/>
                <a:ea typeface="Arial"/>
                <a:cs typeface="Arial"/>
                <a:sym typeface="Arial"/>
              </a:rPr>
              <a:t>SAC의 검증된 대안성:</a:t>
            </a:r>
            <a:r>
              <a:rPr lang="en-US" sz="105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수렴 속도는 PPO보다 약간 늦으나, 엔트로피 유연 탐색 덕분에 최종 수렴 후 2위 자리를 견고히 방어</a:t>
            </a:r>
            <a:endParaRPr/>
          </a:p>
        </p:txBody>
      </p:sp>
      <p:sp>
        <p:nvSpPr>
          <p:cNvPr id="383" name="Google Shape;383;p24"/>
          <p:cNvSpPr txBox="1"/>
          <p:nvPr/>
        </p:nvSpPr>
        <p:spPr>
          <a:xfrm>
            <a:off x="1133623" y="4543425"/>
            <a:ext cx="502047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TD3 부적합 원인 및 한계성</a:t>
            </a:r>
            <a:endParaRPr/>
          </a:p>
        </p:txBody>
      </p:sp>
      <p:sp>
        <p:nvSpPr>
          <p:cNvPr id="384" name="Google Shape;384;p24"/>
          <p:cNvSpPr txBox="1"/>
          <p:nvPr/>
        </p:nvSpPr>
        <p:spPr>
          <a:xfrm>
            <a:off x="904875" y="4829175"/>
            <a:ext cx="50101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TD3의 가우시안 고정 노이즈 탐색 정책( )은 급격한 동적 기온 및 로드 전환 환경에서 최적 행동 공간으로의 적기 추종에 실패하며 학습 루프 붕괴를 초래했습니다.</a:t>
            </a:r>
            <a:endParaRPr/>
          </a:p>
        </p:txBody>
      </p:sp>
      <p:pic>
        <p:nvPicPr>
          <p:cNvPr id="385" name="Google Shape;385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875" y="4572000"/>
            <a:ext cx="133498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AAD5BB5-0D8C-3715-3EA2-B4F881116F94}"/>
              </a:ext>
            </a:extLst>
          </p:cNvPr>
          <p:cNvSpPr txBox="1"/>
          <p:nvPr/>
        </p:nvSpPr>
        <p:spPr>
          <a:xfrm>
            <a:off x="680574" y="6070948"/>
            <a:ext cx="10830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SAC</a:t>
            </a:r>
            <a:r>
              <a:rPr lang="ko-KR" altLang="ko-KR" sz="1400" dirty="0">
                <a:solidFill>
                  <a:schemeClr val="bg1"/>
                </a:solidFill>
              </a:rPr>
              <a:t>와</a:t>
            </a:r>
            <a:r>
              <a:rPr lang="en-US" altLang="ko-KR" sz="1400" dirty="0">
                <a:solidFill>
                  <a:schemeClr val="bg1"/>
                </a:solidFill>
              </a:rPr>
              <a:t> PPO</a:t>
            </a:r>
            <a:r>
              <a:rPr lang="ko-KR" altLang="ko-KR" sz="1400" dirty="0">
                <a:solidFill>
                  <a:schemeClr val="bg1"/>
                </a:solidFill>
              </a:rPr>
              <a:t>는 신뢰구간이 크게 겹쳐 통계적으로 구분되지 않으며</a:t>
            </a:r>
            <a:r>
              <a:rPr lang="en-US" altLang="ko-KR" sz="1400" dirty="0">
                <a:solidFill>
                  <a:schemeClr val="bg1"/>
                </a:solidFill>
              </a:rPr>
              <a:t>, TD3</a:t>
            </a:r>
            <a:r>
              <a:rPr lang="ko-KR" altLang="ko-KR" sz="1400" dirty="0">
                <a:solidFill>
                  <a:schemeClr val="bg1"/>
                </a:solidFill>
              </a:rPr>
              <a:t>는 일관되게 가장 낮은 성능과 가장 큰 분산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ko-KR" sz="1400" dirty="0">
                <a:solidFill>
                  <a:schemeClr val="bg1"/>
                </a:solidFill>
              </a:rPr>
              <a:t>불안정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  <a:r>
              <a:rPr lang="ko-KR" altLang="ko-KR" sz="1400" dirty="0">
                <a:solidFill>
                  <a:schemeClr val="bg1"/>
                </a:solidFill>
              </a:rPr>
              <a:t>을 보였다 </a:t>
            </a:r>
            <a:endParaRPr kumimoji="1" lang="ko-KR" altLang="en-US" sz="1400" dirty="0">
              <a:solidFill>
                <a:schemeClr val="bg1"/>
              </a:solidFill>
            </a:endParaRPr>
          </a:p>
        </p:txBody>
      </p:sp>
      <p:graphicFrame>
        <p:nvGraphicFramePr>
          <p:cNvPr id="11" name="Google Shape;311;p22">
            <a:extLst>
              <a:ext uri="{FF2B5EF4-FFF2-40B4-BE49-F238E27FC236}">
                <a16:creationId xmlns:a16="http://schemas.microsoft.com/office/drawing/2014/main" id="{28D12E53-6411-43E1-9C3A-649404EED7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1962460"/>
              </p:ext>
            </p:extLst>
          </p:nvPr>
        </p:nvGraphicFramePr>
        <p:xfrm>
          <a:off x="3089921" y="4937703"/>
          <a:ext cx="6008221" cy="1056640"/>
        </p:xfrm>
        <a:graphic>
          <a:graphicData uri="http://schemas.openxmlformats.org/drawingml/2006/table">
            <a:tbl>
              <a:tblPr firstRow="1" bandRow="1">
                <a:noFill/>
                <a:tableStyleId>{EE864E2E-C758-4251-AD2A-3C39F9BFEFAA}</a:tableStyleId>
              </a:tblPr>
              <a:tblGrid>
                <a:gridCol w="1104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6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1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8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알고리즘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평균</a:t>
                      </a:r>
                      <a:r>
                        <a:rPr lang="en-US" sz="14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PUE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effectLst/>
                        </a:rPr>
                        <a:t>(±95% CI)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절감</a:t>
                      </a:r>
                      <a:r>
                        <a:rPr lang="en-US" sz="14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률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effectLst/>
                        </a:rPr>
                        <a:t>(±95% CI)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cs typeface="Arial"/>
                          <a:sym typeface="Arial"/>
                        </a:rPr>
                        <a:t>온도 </a:t>
                      </a:r>
                      <a:r>
                        <a:rPr lang="ko-KR" altLang="en-US" sz="1400" b="1" i="0" u="none" strike="noStrike" cap="none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  <a:sym typeface="Arial"/>
                        </a:rPr>
                        <a:t>이탈률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1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SAC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1.1237 ± 0.0074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50.4 ± 3.0%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0.00%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1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cs typeface="Arial"/>
                          <a:sym typeface="Arial"/>
                        </a:rPr>
                        <a:t>PPO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1.1274 ± 0.0195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49.5 ± 6.4%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0.00%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1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TD3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1.1420 ± 0.0308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44.0 ± 11.6%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0.00%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6" name="그룹 65">
            <a:extLst>
              <a:ext uri="{FF2B5EF4-FFF2-40B4-BE49-F238E27FC236}">
                <a16:creationId xmlns:a16="http://schemas.microsoft.com/office/drawing/2014/main" id="{4398F13F-6CB7-17BA-7FBC-3BE56FED87C6}"/>
              </a:ext>
            </a:extLst>
          </p:cNvPr>
          <p:cNvGrpSpPr/>
          <p:nvPr/>
        </p:nvGrpSpPr>
        <p:grpSpPr>
          <a:xfrm>
            <a:off x="1510942" y="1355508"/>
            <a:ext cx="3729270" cy="3433625"/>
            <a:chOff x="924792" y="1355508"/>
            <a:chExt cx="3605168" cy="3319361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51B43C83-A9FC-5888-094F-AC7BEB8AEFBD}"/>
                </a:ext>
              </a:extLst>
            </p:cNvPr>
            <p:cNvGrpSpPr/>
            <p:nvPr/>
          </p:nvGrpSpPr>
          <p:grpSpPr>
            <a:xfrm>
              <a:off x="924792" y="1355508"/>
              <a:ext cx="3605168" cy="3063422"/>
              <a:chOff x="924792" y="1355508"/>
              <a:chExt cx="3605168" cy="3063422"/>
            </a:xfrm>
          </p:grpSpPr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0C7A9B9E-0366-D56E-B70B-AF65476327F8}"/>
                  </a:ext>
                </a:extLst>
              </p:cNvPr>
              <p:cNvGrpSpPr/>
              <p:nvPr/>
            </p:nvGrpSpPr>
            <p:grpSpPr>
              <a:xfrm>
                <a:off x="924792" y="1610591"/>
                <a:ext cx="3605168" cy="2808339"/>
                <a:chOff x="924791" y="1610591"/>
                <a:chExt cx="3855027" cy="3002973"/>
              </a:xfrm>
            </p:grpSpPr>
            <p:cxnSp>
              <p:nvCxnSpPr>
                <p:cNvPr id="9" name="직선 연결선[R] 8">
                  <a:extLst>
                    <a:ext uri="{FF2B5EF4-FFF2-40B4-BE49-F238E27FC236}">
                      <a16:creationId xmlns:a16="http://schemas.microsoft.com/office/drawing/2014/main" id="{AFE99AE0-6D7C-D950-7013-EDED2BF343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791" y="1610591"/>
                  <a:ext cx="0" cy="3002973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직선 연결선[R] 11">
                  <a:extLst>
                    <a:ext uri="{FF2B5EF4-FFF2-40B4-BE49-F238E27FC236}">
                      <a16:creationId xmlns:a16="http://schemas.microsoft.com/office/drawing/2014/main" id="{CB145F7C-4F01-38D2-EAED-6DD6C8F8BC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24791" y="4613564"/>
                  <a:ext cx="3855027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3" name="그룹 32">
                  <a:extLst>
                    <a:ext uri="{FF2B5EF4-FFF2-40B4-BE49-F238E27FC236}">
                      <a16:creationId xmlns:a16="http://schemas.microsoft.com/office/drawing/2014/main" id="{239DC2EC-5E96-D6B2-E956-92027748E913}"/>
                    </a:ext>
                  </a:extLst>
                </p:cNvPr>
                <p:cNvGrpSpPr/>
                <p:nvPr/>
              </p:nvGrpSpPr>
              <p:grpSpPr>
                <a:xfrm>
                  <a:off x="1371600" y="2879283"/>
                  <a:ext cx="945573" cy="1713499"/>
                  <a:chOff x="1371600" y="2879283"/>
                  <a:chExt cx="945573" cy="1713499"/>
                </a:xfrm>
              </p:grpSpPr>
              <p:sp>
                <p:nvSpPr>
                  <p:cNvPr id="20" name="직사각형 19">
                    <a:extLst>
                      <a:ext uri="{FF2B5EF4-FFF2-40B4-BE49-F238E27FC236}">
                        <a16:creationId xmlns:a16="http://schemas.microsoft.com/office/drawing/2014/main" id="{EE8E848F-94FE-AEFF-ACF1-C6FFFE9316C6}"/>
                      </a:ext>
                    </a:extLst>
                  </p:cNvPr>
                  <p:cNvSpPr/>
                  <p:nvPr/>
                </p:nvSpPr>
                <p:spPr>
                  <a:xfrm>
                    <a:off x="1371600" y="3429000"/>
                    <a:ext cx="945573" cy="1163782"/>
                  </a:xfrm>
                  <a:prstGeom prst="rect">
                    <a:avLst/>
                  </a:prstGeom>
                  <a:solidFill>
                    <a:srgbClr val="B6000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/>
                  </a:p>
                </p:txBody>
              </p:sp>
              <p:cxnSp>
                <p:nvCxnSpPr>
                  <p:cNvPr id="21" name="직선 연결선[R] 20">
                    <a:extLst>
                      <a:ext uri="{FF2B5EF4-FFF2-40B4-BE49-F238E27FC236}">
                        <a16:creationId xmlns:a16="http://schemas.microsoft.com/office/drawing/2014/main" id="{0B7F2F5F-B3D5-1CAF-F6FC-4B2BDE1FE8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62545" y="3159336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직선 연결선[R] 23">
                    <a:extLst>
                      <a:ext uri="{FF2B5EF4-FFF2-40B4-BE49-F238E27FC236}">
                        <a16:creationId xmlns:a16="http://schemas.microsoft.com/office/drawing/2014/main" id="{753313C7-F5C1-93B5-78EB-42A6947181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849582" y="3148945"/>
                    <a:ext cx="0" cy="523009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직선 연결선[R] 30">
                    <a:extLst>
                      <a:ext uri="{FF2B5EF4-FFF2-40B4-BE49-F238E27FC236}">
                        <a16:creationId xmlns:a16="http://schemas.microsoft.com/office/drawing/2014/main" id="{E7C43656-EA73-66DC-6BCC-BBE7F77FD2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72936" y="3671954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31F37635-B76D-BDBB-D240-8BE25872F0A0}"/>
                      </a:ext>
                    </a:extLst>
                  </p:cNvPr>
                  <p:cNvSpPr txBox="1"/>
                  <p:nvPr/>
                </p:nvSpPr>
                <p:spPr>
                  <a:xfrm>
                    <a:off x="1548639" y="2879283"/>
                    <a:ext cx="612277" cy="2632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sz="1000" b="1" dirty="0">
                        <a:solidFill>
                          <a:schemeClr val="bg1"/>
                        </a:solidFill>
                      </a:rPr>
                      <a:t>1.1237</a:t>
                    </a:r>
                    <a:endParaRPr kumimoji="1" lang="ko-KR" altLang="en-US" sz="1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49" name="그룹 48">
                  <a:extLst>
                    <a:ext uri="{FF2B5EF4-FFF2-40B4-BE49-F238E27FC236}">
                      <a16:creationId xmlns:a16="http://schemas.microsoft.com/office/drawing/2014/main" id="{E377CC48-029D-1208-E592-BD5E0A70764E}"/>
                    </a:ext>
                  </a:extLst>
                </p:cNvPr>
                <p:cNvGrpSpPr/>
                <p:nvPr/>
              </p:nvGrpSpPr>
              <p:grpSpPr>
                <a:xfrm>
                  <a:off x="2493819" y="2527180"/>
                  <a:ext cx="945573" cy="2075993"/>
                  <a:chOff x="2493819" y="2527180"/>
                  <a:chExt cx="945573" cy="2075993"/>
                </a:xfrm>
              </p:grpSpPr>
              <p:grpSp>
                <p:nvGrpSpPr>
                  <p:cNvPr id="34" name="그룹 33">
                    <a:extLst>
                      <a:ext uri="{FF2B5EF4-FFF2-40B4-BE49-F238E27FC236}">
                        <a16:creationId xmlns:a16="http://schemas.microsoft.com/office/drawing/2014/main" id="{5ABFC7A9-CEEB-E393-3223-70AD6F4E8FF4}"/>
                      </a:ext>
                    </a:extLst>
                  </p:cNvPr>
                  <p:cNvGrpSpPr/>
                  <p:nvPr/>
                </p:nvGrpSpPr>
                <p:grpSpPr>
                  <a:xfrm>
                    <a:off x="2493819" y="2527180"/>
                    <a:ext cx="945573" cy="2075993"/>
                    <a:chOff x="1371600" y="2516789"/>
                    <a:chExt cx="945573" cy="2075993"/>
                  </a:xfrm>
                </p:grpSpPr>
                <p:sp>
                  <p:nvSpPr>
                    <p:cNvPr id="35" name="직사각형 34">
                      <a:extLst>
                        <a:ext uri="{FF2B5EF4-FFF2-40B4-BE49-F238E27FC236}">
                          <a16:creationId xmlns:a16="http://schemas.microsoft.com/office/drawing/2014/main" id="{58FC7B73-199D-DA54-DDED-C66CC95632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71600" y="3213577"/>
                      <a:ext cx="945573" cy="1379205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cxnSp>
                  <p:nvCxnSpPr>
                    <p:cNvPr id="36" name="직선 연결선[R] 35">
                      <a:extLst>
                        <a:ext uri="{FF2B5EF4-FFF2-40B4-BE49-F238E27FC236}">
                          <a16:creationId xmlns:a16="http://schemas.microsoft.com/office/drawing/2014/main" id="{79D7FA72-3429-3BC2-350C-380A16EBF88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662545" y="2788374"/>
                      <a:ext cx="353292" cy="0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직선 연결선[R] 36">
                      <a:extLst>
                        <a:ext uri="{FF2B5EF4-FFF2-40B4-BE49-F238E27FC236}">
                          <a16:creationId xmlns:a16="http://schemas.microsoft.com/office/drawing/2014/main" id="{F4FE3520-FD83-3090-F922-24B9530A310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49582" y="2809995"/>
                      <a:ext cx="0" cy="683465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1BCECC21-C342-D978-554F-B49CE4BAF0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32859" y="2516789"/>
                      <a:ext cx="612277" cy="26328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en-US" altLang="ko-KR" sz="1000" b="1" dirty="0">
                          <a:solidFill>
                            <a:schemeClr val="bg1"/>
                          </a:solidFill>
                        </a:rPr>
                        <a:t>1.1274</a:t>
                      </a:r>
                      <a:endParaRPr kumimoji="1" lang="ko-KR" altLang="en-US" sz="1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43" name="직선 연결선[R] 42">
                    <a:extLst>
                      <a:ext uri="{FF2B5EF4-FFF2-40B4-BE49-F238E27FC236}">
                        <a16:creationId xmlns:a16="http://schemas.microsoft.com/office/drawing/2014/main" id="{C23B6243-EDE8-A6D7-0FFB-9A469E6268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95155" y="3503851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0" name="그룹 49">
                  <a:extLst>
                    <a:ext uri="{FF2B5EF4-FFF2-40B4-BE49-F238E27FC236}">
                      <a16:creationId xmlns:a16="http://schemas.microsoft.com/office/drawing/2014/main" id="{8089554B-DC7B-5DA2-4338-E813F38EAE83}"/>
                    </a:ext>
                  </a:extLst>
                </p:cNvPr>
                <p:cNvGrpSpPr/>
                <p:nvPr/>
              </p:nvGrpSpPr>
              <p:grpSpPr>
                <a:xfrm>
                  <a:off x="3697201" y="1648799"/>
                  <a:ext cx="945573" cy="2954374"/>
                  <a:chOff x="2493819" y="1648799"/>
                  <a:chExt cx="945573" cy="2954374"/>
                </a:xfrm>
              </p:grpSpPr>
              <p:grpSp>
                <p:nvGrpSpPr>
                  <p:cNvPr id="51" name="그룹 50">
                    <a:extLst>
                      <a:ext uri="{FF2B5EF4-FFF2-40B4-BE49-F238E27FC236}">
                        <a16:creationId xmlns:a16="http://schemas.microsoft.com/office/drawing/2014/main" id="{74E13B89-73E2-CC48-8AD9-76E64910EFAF}"/>
                      </a:ext>
                    </a:extLst>
                  </p:cNvPr>
                  <p:cNvGrpSpPr/>
                  <p:nvPr/>
                </p:nvGrpSpPr>
                <p:grpSpPr>
                  <a:xfrm>
                    <a:off x="2493819" y="1648799"/>
                    <a:ext cx="945573" cy="2954374"/>
                    <a:chOff x="1371600" y="1638408"/>
                    <a:chExt cx="945573" cy="2954374"/>
                  </a:xfrm>
                </p:grpSpPr>
                <p:sp>
                  <p:nvSpPr>
                    <p:cNvPr id="53" name="직사각형 52">
                      <a:extLst>
                        <a:ext uri="{FF2B5EF4-FFF2-40B4-BE49-F238E27FC236}">
                          <a16:creationId xmlns:a16="http://schemas.microsoft.com/office/drawing/2014/main" id="{E6938F96-4240-23EB-F566-EEA4BC6D3B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71600" y="2855359"/>
                      <a:ext cx="945573" cy="1737423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cxnSp>
                  <p:nvCxnSpPr>
                    <p:cNvPr id="54" name="직선 연결선[R] 53">
                      <a:extLst>
                        <a:ext uri="{FF2B5EF4-FFF2-40B4-BE49-F238E27FC236}">
                          <a16:creationId xmlns:a16="http://schemas.microsoft.com/office/drawing/2014/main" id="{DDCCA368-D113-81C1-2FE0-ABC93947C20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662545" y="1911677"/>
                      <a:ext cx="353292" cy="0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" name="직선 연결선[R] 54">
                      <a:extLst>
                        <a:ext uri="{FF2B5EF4-FFF2-40B4-BE49-F238E27FC236}">
                          <a16:creationId xmlns:a16="http://schemas.microsoft.com/office/drawing/2014/main" id="{C89C847D-6BDD-55A3-A224-918D0F4F57B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49582" y="1911677"/>
                      <a:ext cx="0" cy="1506932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557D6114-5AE2-FA24-9A07-92058A8B44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33052" y="1638408"/>
                      <a:ext cx="612277" cy="26328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en-US" altLang="ko-KR" sz="1000" b="1" dirty="0">
                          <a:solidFill>
                            <a:schemeClr val="bg1"/>
                          </a:solidFill>
                        </a:rPr>
                        <a:t>1.1420</a:t>
                      </a:r>
                      <a:endParaRPr kumimoji="1" lang="ko-KR" altLang="en-US" sz="1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52" name="직선 연결선[R] 51">
                    <a:extLst>
                      <a:ext uri="{FF2B5EF4-FFF2-40B4-BE49-F238E27FC236}">
                        <a16:creationId xmlns:a16="http://schemas.microsoft.com/office/drawing/2014/main" id="{E44216CC-7354-9CF7-A514-8F3076A224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95155" y="3437862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EC22980-1811-2463-3768-05E0602FB3FF}"/>
                  </a:ext>
                </a:extLst>
              </p:cNvPr>
              <p:cNvSpPr txBox="1"/>
              <p:nvPr/>
            </p:nvSpPr>
            <p:spPr>
              <a:xfrm>
                <a:off x="1292068" y="1355508"/>
                <a:ext cx="309411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dirty="0">
                    <a:solidFill>
                      <a:schemeClr val="bg1"/>
                    </a:solidFill>
                  </a:rPr>
                  <a:t>평균 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PUE (</a:t>
                </a:r>
                <a:r>
                  <a:rPr kumimoji="1" lang="ko-KR" altLang="en-US" dirty="0">
                    <a:solidFill>
                      <a:schemeClr val="bg1"/>
                    </a:solidFill>
                  </a:rPr>
                  <a:t>낮을수록 좋음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,</a:t>
                </a:r>
                <a:r>
                  <a:rPr kumimoji="1" lang="ko-KR" altLang="en-US" dirty="0">
                    <a:solidFill>
                      <a:schemeClr val="bg1"/>
                    </a:solidFill>
                  </a:rPr>
                  <a:t> 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±95%</a:t>
                </a:r>
                <a:r>
                  <a:rPr kumimoji="1" lang="ko-KR" altLang="en-US" dirty="0">
                    <a:solidFill>
                      <a:schemeClr val="bg1"/>
                    </a:solidFill>
                  </a:rPr>
                  <a:t> 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CI)</a:t>
                </a:r>
                <a:r>
                  <a:rPr kumimoji="1" lang="ko-KR" altLang="en-US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A1726EF-9BA2-4A9B-6317-C47DFB5D71C5}"/>
                </a:ext>
              </a:extLst>
            </p:cNvPr>
            <p:cNvSpPr txBox="1"/>
            <p:nvPr/>
          </p:nvSpPr>
          <p:spPr>
            <a:xfrm>
              <a:off x="1570639" y="4428648"/>
              <a:ext cx="44755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SAC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9C6DD6C-6A73-AC14-9169-FB726F63CE35}"/>
                </a:ext>
              </a:extLst>
            </p:cNvPr>
            <p:cNvSpPr txBox="1"/>
            <p:nvPr/>
          </p:nvSpPr>
          <p:spPr>
            <a:xfrm>
              <a:off x="2556766" y="4428648"/>
              <a:ext cx="45397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PPO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4A0B972-975F-D542-C9A9-AABD728D6956}"/>
                </a:ext>
              </a:extLst>
            </p:cNvPr>
            <p:cNvSpPr txBox="1"/>
            <p:nvPr/>
          </p:nvSpPr>
          <p:spPr>
            <a:xfrm>
              <a:off x="3741585" y="4428648"/>
              <a:ext cx="4267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TD3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2412E25D-0E8F-AE4E-A6D1-1D6A8BBD9BD5}"/>
              </a:ext>
            </a:extLst>
          </p:cNvPr>
          <p:cNvGrpSpPr/>
          <p:nvPr/>
        </p:nvGrpSpPr>
        <p:grpSpPr>
          <a:xfrm>
            <a:off x="6707070" y="1365615"/>
            <a:ext cx="3729270" cy="3433625"/>
            <a:chOff x="924792" y="1355508"/>
            <a:chExt cx="3605168" cy="3319361"/>
          </a:xfrm>
        </p:grpSpPr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37B9C446-83F4-06D6-95D2-A4C817FAF6BB}"/>
                </a:ext>
              </a:extLst>
            </p:cNvPr>
            <p:cNvGrpSpPr/>
            <p:nvPr/>
          </p:nvGrpSpPr>
          <p:grpSpPr>
            <a:xfrm>
              <a:off x="924792" y="1355508"/>
              <a:ext cx="3605168" cy="3063423"/>
              <a:chOff x="924792" y="1355508"/>
              <a:chExt cx="3605168" cy="3063423"/>
            </a:xfrm>
          </p:grpSpPr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C4AB6465-06FF-097E-38D7-EB0B83364E0A}"/>
                  </a:ext>
                </a:extLst>
              </p:cNvPr>
              <p:cNvGrpSpPr/>
              <p:nvPr/>
            </p:nvGrpSpPr>
            <p:grpSpPr>
              <a:xfrm>
                <a:off x="924792" y="1578299"/>
                <a:ext cx="3605168" cy="2840632"/>
                <a:chOff x="924791" y="1576061"/>
                <a:chExt cx="3855027" cy="3037503"/>
              </a:xfrm>
            </p:grpSpPr>
            <p:cxnSp>
              <p:nvCxnSpPr>
                <p:cNvPr id="74" name="직선 연결선[R] 73">
                  <a:extLst>
                    <a:ext uri="{FF2B5EF4-FFF2-40B4-BE49-F238E27FC236}">
                      <a16:creationId xmlns:a16="http://schemas.microsoft.com/office/drawing/2014/main" id="{CF9C9050-40C6-DC3B-A471-7AF96708CB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791" y="1610591"/>
                  <a:ext cx="0" cy="3002973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직선 연결선[R] 74">
                  <a:extLst>
                    <a:ext uri="{FF2B5EF4-FFF2-40B4-BE49-F238E27FC236}">
                      <a16:creationId xmlns:a16="http://schemas.microsoft.com/office/drawing/2014/main" id="{98DAF30D-EF30-B1E6-CB8A-A9FFA84938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24791" y="4613564"/>
                  <a:ext cx="3855027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2623B381-086E-B325-22EB-00879B60F4B7}"/>
                    </a:ext>
                  </a:extLst>
                </p:cNvPr>
                <p:cNvGrpSpPr/>
                <p:nvPr/>
              </p:nvGrpSpPr>
              <p:grpSpPr>
                <a:xfrm>
                  <a:off x="1371600" y="1690671"/>
                  <a:ext cx="945573" cy="2902111"/>
                  <a:chOff x="1371600" y="1690671"/>
                  <a:chExt cx="945573" cy="2902111"/>
                </a:xfrm>
              </p:grpSpPr>
              <p:sp>
                <p:nvSpPr>
                  <p:cNvPr id="91" name="직사각형 90">
                    <a:extLst>
                      <a:ext uri="{FF2B5EF4-FFF2-40B4-BE49-F238E27FC236}">
                        <a16:creationId xmlns:a16="http://schemas.microsoft.com/office/drawing/2014/main" id="{3610BF42-543E-B483-9496-2EF414D1705C}"/>
                      </a:ext>
                    </a:extLst>
                  </p:cNvPr>
                  <p:cNvSpPr/>
                  <p:nvPr/>
                </p:nvSpPr>
                <p:spPr>
                  <a:xfrm>
                    <a:off x="1371600" y="2124305"/>
                    <a:ext cx="945573" cy="2468477"/>
                  </a:xfrm>
                  <a:prstGeom prst="rect">
                    <a:avLst/>
                  </a:prstGeom>
                  <a:solidFill>
                    <a:srgbClr val="B6000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/>
                  </a:p>
                </p:txBody>
              </p:sp>
              <p:cxnSp>
                <p:nvCxnSpPr>
                  <p:cNvPr id="92" name="직선 연결선[R] 91">
                    <a:extLst>
                      <a:ext uri="{FF2B5EF4-FFF2-40B4-BE49-F238E27FC236}">
                        <a16:creationId xmlns:a16="http://schemas.microsoft.com/office/drawing/2014/main" id="{58475B95-A24F-1DE8-D06E-E57EB0D87CB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62545" y="1970724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직선 연결선[R] 92">
                    <a:extLst>
                      <a:ext uri="{FF2B5EF4-FFF2-40B4-BE49-F238E27FC236}">
                        <a16:creationId xmlns:a16="http://schemas.microsoft.com/office/drawing/2014/main" id="{F8A623C9-B593-33CE-D13B-91EC35CBF9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839192" y="1986875"/>
                    <a:ext cx="0" cy="293886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직선 연결선[R] 93">
                    <a:extLst>
                      <a:ext uri="{FF2B5EF4-FFF2-40B4-BE49-F238E27FC236}">
                        <a16:creationId xmlns:a16="http://schemas.microsoft.com/office/drawing/2014/main" id="{DD3F91C6-4809-5CCF-6188-D9D200932A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62545" y="2272167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FE8C1520-23F3-CB6C-0E5B-0F0E6AEE3089}"/>
                      </a:ext>
                    </a:extLst>
                  </p:cNvPr>
                  <p:cNvSpPr txBox="1"/>
                  <p:nvPr/>
                </p:nvSpPr>
                <p:spPr>
                  <a:xfrm>
                    <a:off x="1548639" y="1690671"/>
                    <a:ext cx="563732" cy="25452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sz="1000" b="1" dirty="0">
                        <a:solidFill>
                          <a:schemeClr val="bg1"/>
                        </a:solidFill>
                      </a:rPr>
                      <a:t>50.4%</a:t>
                    </a:r>
                    <a:endParaRPr kumimoji="1" lang="ko-KR" altLang="en-US" sz="1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77" name="그룹 76">
                  <a:extLst>
                    <a:ext uri="{FF2B5EF4-FFF2-40B4-BE49-F238E27FC236}">
                      <a16:creationId xmlns:a16="http://schemas.microsoft.com/office/drawing/2014/main" id="{38B1DBEC-6FB5-A6F7-E203-D9961EC5B3E1}"/>
                    </a:ext>
                  </a:extLst>
                </p:cNvPr>
                <p:cNvGrpSpPr/>
                <p:nvPr/>
              </p:nvGrpSpPr>
              <p:grpSpPr>
                <a:xfrm>
                  <a:off x="2493819" y="1576061"/>
                  <a:ext cx="945573" cy="3027114"/>
                  <a:chOff x="2493819" y="1576061"/>
                  <a:chExt cx="945573" cy="3027114"/>
                </a:xfrm>
              </p:grpSpPr>
              <p:grpSp>
                <p:nvGrpSpPr>
                  <p:cNvPr id="85" name="그룹 84">
                    <a:extLst>
                      <a:ext uri="{FF2B5EF4-FFF2-40B4-BE49-F238E27FC236}">
                        <a16:creationId xmlns:a16="http://schemas.microsoft.com/office/drawing/2014/main" id="{D391C38A-62E8-C9B2-96AF-39A8D9032208}"/>
                      </a:ext>
                    </a:extLst>
                  </p:cNvPr>
                  <p:cNvGrpSpPr/>
                  <p:nvPr/>
                </p:nvGrpSpPr>
                <p:grpSpPr>
                  <a:xfrm>
                    <a:off x="2493819" y="1576061"/>
                    <a:ext cx="945573" cy="3027114"/>
                    <a:chOff x="1371600" y="1565670"/>
                    <a:chExt cx="945573" cy="3027114"/>
                  </a:xfrm>
                </p:grpSpPr>
                <p:sp>
                  <p:nvSpPr>
                    <p:cNvPr id="87" name="직사각형 86">
                      <a:extLst>
                        <a:ext uri="{FF2B5EF4-FFF2-40B4-BE49-F238E27FC236}">
                          <a16:creationId xmlns:a16="http://schemas.microsoft.com/office/drawing/2014/main" id="{2D3D3580-3A8A-3285-0B24-6F0467E470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71600" y="2140608"/>
                      <a:ext cx="945573" cy="2452176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cxnSp>
                  <p:nvCxnSpPr>
                    <p:cNvPr id="88" name="직선 연결선[R] 87">
                      <a:extLst>
                        <a:ext uri="{FF2B5EF4-FFF2-40B4-BE49-F238E27FC236}">
                          <a16:creationId xmlns:a16="http://schemas.microsoft.com/office/drawing/2014/main" id="{37C45160-5C77-E823-8072-91E70489108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662545" y="1830650"/>
                      <a:ext cx="353292" cy="0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직선 연결선[R] 88">
                      <a:extLst>
                        <a:ext uri="{FF2B5EF4-FFF2-40B4-BE49-F238E27FC236}">
                          <a16:creationId xmlns:a16="http://schemas.microsoft.com/office/drawing/2014/main" id="{6FE746F9-8665-CE50-3AD9-B4BB944C07C8}"/>
                        </a:ext>
                      </a:extLst>
                    </p:cNvPr>
                    <p:cNvCxnSpPr>
                      <a:cxnSpLocks/>
                      <a:endCxn id="90" idx="2"/>
                    </p:cNvCxnSpPr>
                    <p:nvPr/>
                  </p:nvCxnSpPr>
                  <p:spPr>
                    <a:xfrm flipH="1" flipV="1">
                      <a:off x="1849581" y="1820194"/>
                      <a:ext cx="1" cy="754517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0" name="TextBox 89">
                      <a:extLst>
                        <a:ext uri="{FF2B5EF4-FFF2-40B4-BE49-F238E27FC236}">
                          <a16:creationId xmlns:a16="http://schemas.microsoft.com/office/drawing/2014/main" id="{DB399882-4CB9-5D95-ED73-1871C2C795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67716" y="1565670"/>
                      <a:ext cx="563732" cy="25452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en-US" altLang="ko-KR" sz="1000" b="1" dirty="0">
                          <a:solidFill>
                            <a:schemeClr val="bg1"/>
                          </a:solidFill>
                        </a:rPr>
                        <a:t>49.5%</a:t>
                      </a:r>
                      <a:endParaRPr kumimoji="1" lang="ko-KR" altLang="en-US" sz="1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86" name="직선 연결선[R] 85">
                    <a:extLst>
                      <a:ext uri="{FF2B5EF4-FFF2-40B4-BE49-F238E27FC236}">
                        <a16:creationId xmlns:a16="http://schemas.microsoft.com/office/drawing/2014/main" id="{0FA77D6E-63A7-CA87-0060-F8552AC594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95155" y="2585102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8" name="그룹 77">
                  <a:extLst>
                    <a:ext uri="{FF2B5EF4-FFF2-40B4-BE49-F238E27FC236}">
                      <a16:creationId xmlns:a16="http://schemas.microsoft.com/office/drawing/2014/main" id="{E0C29E2A-3EDA-029E-0D88-30C08D4D7E1A}"/>
                    </a:ext>
                  </a:extLst>
                </p:cNvPr>
                <p:cNvGrpSpPr/>
                <p:nvPr/>
              </p:nvGrpSpPr>
              <p:grpSpPr>
                <a:xfrm>
                  <a:off x="3697201" y="1671324"/>
                  <a:ext cx="945573" cy="2931850"/>
                  <a:chOff x="2493819" y="1671324"/>
                  <a:chExt cx="945573" cy="2931850"/>
                </a:xfrm>
              </p:grpSpPr>
              <p:grpSp>
                <p:nvGrpSpPr>
                  <p:cNvPr id="79" name="그룹 78">
                    <a:extLst>
                      <a:ext uri="{FF2B5EF4-FFF2-40B4-BE49-F238E27FC236}">
                        <a16:creationId xmlns:a16="http://schemas.microsoft.com/office/drawing/2014/main" id="{20E1AEFA-67FE-5B45-BFFF-2A69541586AF}"/>
                      </a:ext>
                    </a:extLst>
                  </p:cNvPr>
                  <p:cNvGrpSpPr/>
                  <p:nvPr/>
                </p:nvGrpSpPr>
                <p:grpSpPr>
                  <a:xfrm>
                    <a:off x="2493819" y="1671324"/>
                    <a:ext cx="945573" cy="2931850"/>
                    <a:chOff x="1371600" y="1660933"/>
                    <a:chExt cx="945573" cy="2931850"/>
                  </a:xfrm>
                </p:grpSpPr>
                <p:sp>
                  <p:nvSpPr>
                    <p:cNvPr id="81" name="직사각형 80">
                      <a:extLst>
                        <a:ext uri="{FF2B5EF4-FFF2-40B4-BE49-F238E27FC236}">
                          <a16:creationId xmlns:a16="http://schemas.microsoft.com/office/drawing/2014/main" id="{762C2663-BE17-1502-384F-53B8602EAE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71600" y="2386651"/>
                      <a:ext cx="945573" cy="2206132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cxnSp>
                  <p:nvCxnSpPr>
                    <p:cNvPr id="82" name="직선 연결선[R] 81">
                      <a:extLst>
                        <a:ext uri="{FF2B5EF4-FFF2-40B4-BE49-F238E27FC236}">
                          <a16:creationId xmlns:a16="http://schemas.microsoft.com/office/drawing/2014/main" id="{B0ABCDF7-2F4A-927F-F5D7-1B58DC3B48C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662545" y="1911677"/>
                      <a:ext cx="353292" cy="0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" name="직선 연결선[R] 82">
                      <a:extLst>
                        <a:ext uri="{FF2B5EF4-FFF2-40B4-BE49-F238E27FC236}">
                          <a16:creationId xmlns:a16="http://schemas.microsoft.com/office/drawing/2014/main" id="{B7196D91-342C-A03B-099C-A0EA76D04A9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49583" y="1911677"/>
                      <a:ext cx="0" cy="933235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4" name="TextBox 83">
                      <a:extLst>
                        <a:ext uri="{FF2B5EF4-FFF2-40B4-BE49-F238E27FC236}">
                          <a16:creationId xmlns:a16="http://schemas.microsoft.com/office/drawing/2014/main" id="{A9EF8FC0-2934-D446-A04D-036265BCBD5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51912" y="1660933"/>
                      <a:ext cx="563732" cy="25452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en-US" altLang="ko-KR" sz="1000" b="1" dirty="0">
                          <a:solidFill>
                            <a:schemeClr val="bg1"/>
                          </a:solidFill>
                        </a:rPr>
                        <a:t>44.0%</a:t>
                      </a:r>
                      <a:endParaRPr kumimoji="1" lang="ko-KR" altLang="en-US" sz="1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80" name="직선 연결선[R] 79">
                    <a:extLst>
                      <a:ext uri="{FF2B5EF4-FFF2-40B4-BE49-F238E27FC236}">
                        <a16:creationId xmlns:a16="http://schemas.microsoft.com/office/drawing/2014/main" id="{7D5B03F3-FB2F-E51D-89E8-B0FA4C865C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95155" y="2868836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E71F2EE-3A91-E0E5-CB34-3E10C462BD96}"/>
                  </a:ext>
                </a:extLst>
              </p:cNvPr>
              <p:cNvSpPr txBox="1"/>
              <p:nvPr/>
            </p:nvSpPr>
            <p:spPr>
              <a:xfrm>
                <a:off x="1292068" y="1355508"/>
                <a:ext cx="3057786" cy="2975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dirty="0">
                    <a:solidFill>
                      <a:schemeClr val="bg1"/>
                    </a:solidFill>
                  </a:rPr>
                  <a:t>냉각절감율 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(</a:t>
                </a:r>
                <a:r>
                  <a:rPr kumimoji="1" lang="ko-KR" altLang="en-US" dirty="0">
                    <a:solidFill>
                      <a:schemeClr val="bg1"/>
                    </a:solidFill>
                  </a:rPr>
                  <a:t>높을수록 좋음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,</a:t>
                </a:r>
                <a:r>
                  <a:rPr kumimoji="1" lang="ko-KR" altLang="en-US" dirty="0">
                    <a:solidFill>
                      <a:schemeClr val="bg1"/>
                    </a:solidFill>
                  </a:rPr>
                  <a:t> 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±95% CI)</a:t>
                </a:r>
              </a:p>
            </p:txBody>
          </p: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2BB756A-762D-1D7F-E7B2-E9C89E126389}"/>
                </a:ext>
              </a:extLst>
            </p:cNvPr>
            <p:cNvSpPr txBox="1"/>
            <p:nvPr/>
          </p:nvSpPr>
          <p:spPr>
            <a:xfrm>
              <a:off x="1570639" y="4428648"/>
              <a:ext cx="44755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SAC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526AAE0-97B1-2E81-F8BB-F785A9F52C00}"/>
                </a:ext>
              </a:extLst>
            </p:cNvPr>
            <p:cNvSpPr txBox="1"/>
            <p:nvPr/>
          </p:nvSpPr>
          <p:spPr>
            <a:xfrm>
              <a:off x="2556766" y="4428648"/>
              <a:ext cx="45397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PPO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F8A5645-F3EC-71D0-956E-E74E3D00CB18}"/>
                </a:ext>
              </a:extLst>
            </p:cNvPr>
            <p:cNvSpPr txBox="1"/>
            <p:nvPr/>
          </p:nvSpPr>
          <p:spPr>
            <a:xfrm>
              <a:off x="3741585" y="4428648"/>
              <a:ext cx="4267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TD3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0" name="Google Shape;376;p24">
            <a:extLst>
              <a:ext uri="{FF2B5EF4-FFF2-40B4-BE49-F238E27FC236}">
                <a16:creationId xmlns:a16="http://schemas.microsoft.com/office/drawing/2014/main" id="{C12A46C9-8FFC-E4E4-A090-0AC9977A8A8C}"/>
              </a:ext>
            </a:extLst>
          </p:cNvPr>
          <p:cNvSpPr txBox="1"/>
          <p:nvPr/>
        </p:nvSpPr>
        <p:spPr>
          <a:xfrm>
            <a:off x="723900" y="558284"/>
            <a:ext cx="79959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신뢰도 검증</a:t>
            </a:r>
            <a:r>
              <a:rPr lang="en-US" altLang="ko-KR" sz="2400" b="1" dirty="0">
                <a:solidFill>
                  <a:schemeClr val="bg1"/>
                </a:solidFill>
              </a:rPr>
              <a:t>:</a:t>
            </a:r>
            <a:r>
              <a:rPr lang="ko-KR" altLang="en-US" sz="2400" b="1" dirty="0">
                <a:solidFill>
                  <a:schemeClr val="bg1"/>
                </a:solidFill>
              </a:rPr>
              <a:t> 다중 </a:t>
            </a:r>
            <a:r>
              <a:rPr lang="ko-KR" altLang="en-US" sz="2400" b="1" dirty="0" err="1">
                <a:solidFill>
                  <a:schemeClr val="bg1"/>
                </a:solidFill>
              </a:rPr>
              <a:t>시드</a:t>
            </a:r>
            <a:r>
              <a:rPr lang="ko-KR" altLang="en-US" sz="2400" b="1" dirty="0">
                <a:solidFill>
                  <a:schemeClr val="bg1"/>
                </a:solidFill>
              </a:rPr>
              <a:t> 실험 </a:t>
            </a:r>
            <a:r>
              <a:rPr lang="en-US" altLang="ko-KR" sz="2400" b="1" dirty="0">
                <a:solidFill>
                  <a:schemeClr val="bg1"/>
                </a:solidFill>
              </a:rPr>
              <a:t>(200K,</a:t>
            </a:r>
            <a:r>
              <a:rPr lang="ko-KR" altLang="en-US" sz="2400" b="1" dirty="0">
                <a:solidFill>
                  <a:schemeClr val="bg1"/>
                </a:solidFill>
              </a:rPr>
              <a:t> </a:t>
            </a:r>
            <a:r>
              <a:rPr lang="ko-KR" altLang="en-US" sz="2400" b="1" dirty="0" err="1">
                <a:solidFill>
                  <a:schemeClr val="bg1"/>
                </a:solidFill>
              </a:rPr>
              <a:t>시드</a:t>
            </a:r>
            <a:r>
              <a:rPr lang="ko-KR" altLang="en-US" sz="2400" b="1" dirty="0">
                <a:solidFill>
                  <a:schemeClr val="bg1"/>
                </a:solidFill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</a:rPr>
              <a:t>3</a:t>
            </a:r>
            <a:r>
              <a:rPr lang="ko-KR" altLang="en-US" sz="2400" b="1" dirty="0">
                <a:solidFill>
                  <a:schemeClr val="bg1"/>
                </a:solidFill>
              </a:rPr>
              <a:t>개</a:t>
            </a:r>
            <a:r>
              <a:rPr lang="en-US" altLang="ko-KR" sz="2400" b="1" dirty="0">
                <a:solidFill>
                  <a:schemeClr val="bg1"/>
                </a:solidFill>
              </a:rPr>
              <a:t>,</a:t>
            </a:r>
            <a:r>
              <a:rPr lang="ko-KR" altLang="en-US" sz="2400" b="1" dirty="0">
                <a:solidFill>
                  <a:schemeClr val="bg1"/>
                </a:solidFill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</a:rPr>
              <a:t>±95%</a:t>
            </a:r>
            <a:r>
              <a:rPr lang="ko-KR" altLang="en-US" sz="2400" b="1" dirty="0">
                <a:solidFill>
                  <a:schemeClr val="bg1"/>
                </a:solidFill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</a:rPr>
              <a:t>CI)</a:t>
            </a:r>
          </a:p>
        </p:txBody>
      </p:sp>
    </p:spTree>
    <p:extLst>
      <p:ext uri="{BB962C8B-B14F-4D97-AF65-F5344CB8AC3E}">
        <p14:creationId xmlns:p14="http://schemas.microsoft.com/office/powerpoint/2010/main" val="2222648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19B2AA6-7355-61AC-06D0-5CD94471670B}"/>
              </a:ext>
            </a:extLst>
          </p:cNvPr>
          <p:cNvSpPr txBox="1"/>
          <p:nvPr/>
        </p:nvSpPr>
        <p:spPr>
          <a:xfrm>
            <a:off x="1635266" y="6163272"/>
            <a:ext cx="89214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기본값</a:t>
            </a:r>
            <a:r>
              <a:rPr lang="en-US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3e-4</a:t>
            </a:r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가 가장 낮은</a:t>
            </a:r>
            <a:r>
              <a:rPr lang="en-US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PUE</a:t>
            </a:r>
            <a:r>
              <a:rPr lang="ko-KR" altLang="ko-KR" sz="1400" dirty="0" err="1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를</a:t>
            </a:r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보였고</a:t>
            </a:r>
            <a:r>
              <a:rPr lang="en-US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, 1e-4</a:t>
            </a:r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는 안정적이나 다소 낮은 효율</a:t>
            </a:r>
            <a:r>
              <a:rPr lang="en-US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, 1e-3</a:t>
            </a:r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은 평균 효율은 높아 보이나</a:t>
            </a:r>
            <a:endParaRPr lang="en-US" altLang="ko-KR" sz="1400" dirty="0">
              <a:solidFill>
                <a:schemeClr val="bg1"/>
              </a:solidFill>
              <a:effectLst/>
              <a:ea typeface="맑은 고딕" panose="020B0503020000020004" pitchFamily="34" charset="-127"/>
              <a:cs typeface="맑은 고딕" panose="020B0503020000020004" pitchFamily="34" charset="-127"/>
            </a:endParaRPr>
          </a:p>
          <a:p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신뢰구간이 매우 넓어</a:t>
            </a:r>
            <a:r>
              <a:rPr lang="en-US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(</a:t>
            </a:r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불안정</a:t>
            </a:r>
            <a:r>
              <a:rPr lang="en-US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) </a:t>
            </a:r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신뢰할 수 없다</a:t>
            </a:r>
            <a:r>
              <a:rPr lang="en-US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. </a:t>
            </a:r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즉 적정 </a:t>
            </a:r>
            <a:r>
              <a:rPr lang="ko-KR" altLang="ko-KR" sz="1400" dirty="0" err="1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학습률이</a:t>
            </a:r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 성능</a:t>
            </a:r>
            <a:r>
              <a:rPr lang="en-US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·</a:t>
            </a:r>
            <a:r>
              <a:rPr lang="ko-KR" altLang="ko-KR" sz="1400" dirty="0">
                <a:solidFill>
                  <a:schemeClr val="bg1"/>
                </a:solidFill>
                <a:effectLst/>
                <a:ea typeface="맑은 고딕" panose="020B0503020000020004" pitchFamily="34" charset="-127"/>
                <a:cs typeface="맑은 고딕" panose="020B0503020000020004" pitchFamily="34" charset="-127"/>
              </a:rPr>
              <a:t>안정성에 결정적임을 확인하였다</a:t>
            </a:r>
            <a:r>
              <a:rPr lang="ko-KR" altLang="ko-KR" sz="1400" dirty="0">
                <a:solidFill>
                  <a:schemeClr val="bg1"/>
                </a:solidFill>
                <a:effectLst/>
              </a:rPr>
              <a:t>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graphicFrame>
        <p:nvGraphicFramePr>
          <p:cNvPr id="9" name="Google Shape;311;p22">
            <a:extLst>
              <a:ext uri="{FF2B5EF4-FFF2-40B4-BE49-F238E27FC236}">
                <a16:creationId xmlns:a16="http://schemas.microsoft.com/office/drawing/2014/main" id="{AE3CA6E1-AF01-449D-BD6C-A86B422240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9528725"/>
              </p:ext>
            </p:extLst>
          </p:nvPr>
        </p:nvGraphicFramePr>
        <p:xfrm>
          <a:off x="3550743" y="5031115"/>
          <a:ext cx="5090508" cy="1056640"/>
        </p:xfrm>
        <a:graphic>
          <a:graphicData uri="http://schemas.openxmlformats.org/drawingml/2006/table">
            <a:tbl>
              <a:tblPr firstRow="1" bandRow="1">
                <a:noFill/>
                <a:tableStyleId>{EE864E2E-C758-4251-AD2A-3C39F9BFEFAA}</a:tableStyleId>
              </a:tblPr>
              <a:tblGrid>
                <a:gridCol w="1311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7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8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i="0" u="none" strike="noStrike" cap="none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  <a:sym typeface="Arial"/>
                        </a:rPr>
                        <a:t>학습률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평균</a:t>
                      </a:r>
                      <a:r>
                        <a:rPr lang="en-US" sz="14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PUE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effectLst/>
                        </a:rPr>
                        <a:t>(±95% CI)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절감</a:t>
                      </a:r>
                      <a:r>
                        <a:rPr lang="en-US" sz="1400" b="1" i="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률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effectLst/>
                        </a:rPr>
                        <a:t>(±95% CI)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00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1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1e-4</a:t>
                      </a:r>
                      <a:endParaRPr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1.1400 ± 0.0121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45.8 ± 3.8%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1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cs typeface="Arial"/>
                          <a:sym typeface="Arial"/>
                        </a:rPr>
                        <a:t>3e-4(</a:t>
                      </a:r>
                      <a:r>
                        <a:rPr lang="ko-KR" altLang="en-US" sz="140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cs typeface="Arial"/>
                          <a:sym typeface="Arial"/>
                        </a:rPr>
                        <a:t>기본</a:t>
                      </a:r>
                      <a:r>
                        <a:rPr lang="en-US" altLang="ko-KR" sz="140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cs typeface="Arial"/>
                          <a:sym typeface="Arial"/>
                        </a:rPr>
                        <a:t>)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1.1274 ± 0.0195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49.5 ± 6.4%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18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1" i="0" u="none" strike="noStrike" cap="none" dirty="0">
                          <a:solidFill>
                            <a:srgbClr val="E2E8F0"/>
                          </a:solidFill>
                          <a:latin typeface="Arial"/>
                          <a:cs typeface="Arial"/>
                          <a:sym typeface="Arial"/>
                        </a:rPr>
                        <a:t>1e-3</a:t>
                      </a:r>
                      <a:endParaRPr sz="1400"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1.1766 ± 0.1920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52.3 ± 28.3%(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effectLst/>
                        </a:rPr>
                        <a:t>불안정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ko-KR" altLang="ko-KR" sz="1400" b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맑은 고딕" panose="020B0503020000020004" pitchFamily="34" charset="-127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0CE782B4-9C6D-AC0A-ADEE-6FF21C0B388B}"/>
              </a:ext>
            </a:extLst>
          </p:cNvPr>
          <p:cNvGrpSpPr/>
          <p:nvPr/>
        </p:nvGrpSpPr>
        <p:grpSpPr>
          <a:xfrm>
            <a:off x="1510942" y="1355508"/>
            <a:ext cx="3729270" cy="3579038"/>
            <a:chOff x="924792" y="1355508"/>
            <a:chExt cx="3605168" cy="3459935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B5AC9338-491C-4FDE-0F66-392AC97CFC65}"/>
                </a:ext>
              </a:extLst>
            </p:cNvPr>
            <p:cNvGrpSpPr/>
            <p:nvPr/>
          </p:nvGrpSpPr>
          <p:grpSpPr>
            <a:xfrm>
              <a:off x="924792" y="1355508"/>
              <a:ext cx="3605168" cy="3063422"/>
              <a:chOff x="924792" y="1355508"/>
              <a:chExt cx="3605168" cy="3063422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7E7765D8-A249-9F71-FC42-63B1AB65D4D3}"/>
                  </a:ext>
                </a:extLst>
              </p:cNvPr>
              <p:cNvGrpSpPr/>
              <p:nvPr/>
            </p:nvGrpSpPr>
            <p:grpSpPr>
              <a:xfrm>
                <a:off x="924792" y="1610591"/>
                <a:ext cx="3605168" cy="2808339"/>
                <a:chOff x="924791" y="1610591"/>
                <a:chExt cx="3855027" cy="3002973"/>
              </a:xfrm>
            </p:grpSpPr>
            <p:cxnSp>
              <p:nvCxnSpPr>
                <p:cNvPr id="15" name="직선 연결선[R] 14">
                  <a:extLst>
                    <a:ext uri="{FF2B5EF4-FFF2-40B4-BE49-F238E27FC236}">
                      <a16:creationId xmlns:a16="http://schemas.microsoft.com/office/drawing/2014/main" id="{ACB66074-375B-E3FC-95CF-F98ED72015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791" y="1610591"/>
                  <a:ext cx="0" cy="3002973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직선 연결선[R] 15">
                  <a:extLst>
                    <a:ext uri="{FF2B5EF4-FFF2-40B4-BE49-F238E27FC236}">
                      <a16:creationId xmlns:a16="http://schemas.microsoft.com/office/drawing/2014/main" id="{DE8D2BE1-7B74-3A84-E3AD-E8C0EB6DA8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24791" y="4613564"/>
                  <a:ext cx="3855027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7" name="그룹 16">
                  <a:extLst>
                    <a:ext uri="{FF2B5EF4-FFF2-40B4-BE49-F238E27FC236}">
                      <a16:creationId xmlns:a16="http://schemas.microsoft.com/office/drawing/2014/main" id="{75221500-1EBC-118B-7315-61C65324BC21}"/>
                    </a:ext>
                  </a:extLst>
                </p:cNvPr>
                <p:cNvGrpSpPr/>
                <p:nvPr/>
              </p:nvGrpSpPr>
              <p:grpSpPr>
                <a:xfrm>
                  <a:off x="1371600" y="2171881"/>
                  <a:ext cx="945573" cy="2420901"/>
                  <a:chOff x="1371600" y="2171881"/>
                  <a:chExt cx="945573" cy="2420901"/>
                </a:xfrm>
              </p:grpSpPr>
              <p:sp>
                <p:nvSpPr>
                  <p:cNvPr id="32" name="직사각형 31">
                    <a:extLst>
                      <a:ext uri="{FF2B5EF4-FFF2-40B4-BE49-F238E27FC236}">
                        <a16:creationId xmlns:a16="http://schemas.microsoft.com/office/drawing/2014/main" id="{2EF9F1A8-03E3-909B-CC24-F6693AD44916}"/>
                      </a:ext>
                    </a:extLst>
                  </p:cNvPr>
                  <p:cNvSpPr/>
                  <p:nvPr/>
                </p:nvSpPr>
                <p:spPr>
                  <a:xfrm>
                    <a:off x="1371600" y="2527180"/>
                    <a:ext cx="945573" cy="2065602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/>
                  </a:p>
                </p:txBody>
              </p:sp>
              <p:cxnSp>
                <p:nvCxnSpPr>
                  <p:cNvPr id="33" name="직선 연결선[R] 32">
                    <a:extLst>
                      <a:ext uri="{FF2B5EF4-FFF2-40B4-BE49-F238E27FC236}">
                        <a16:creationId xmlns:a16="http://schemas.microsoft.com/office/drawing/2014/main" id="{A170DE0B-54AA-90B0-ADBD-17547AB9C3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62545" y="2451926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직선 연결선[R] 33">
                    <a:extLst>
                      <a:ext uri="{FF2B5EF4-FFF2-40B4-BE49-F238E27FC236}">
                        <a16:creationId xmlns:a16="http://schemas.microsoft.com/office/drawing/2014/main" id="{2693BDA9-3F03-A697-747B-46B0670A86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849583" y="2435167"/>
                    <a:ext cx="0" cy="141725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직선 연결선[R] 34">
                    <a:extLst>
                      <a:ext uri="{FF2B5EF4-FFF2-40B4-BE49-F238E27FC236}">
                        <a16:creationId xmlns:a16="http://schemas.microsoft.com/office/drawing/2014/main" id="{AEA0A5F6-B6D5-9164-BC94-EA473CE1E2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66838" y="2567884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DE0152D2-BE9F-F036-47D4-E7D7D5CA4F7E}"/>
                      </a:ext>
                    </a:extLst>
                  </p:cNvPr>
                  <p:cNvSpPr txBox="1"/>
                  <p:nvPr/>
                </p:nvSpPr>
                <p:spPr>
                  <a:xfrm>
                    <a:off x="1548639" y="2171881"/>
                    <a:ext cx="591902" cy="25452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sz="1000" b="1" dirty="0">
                        <a:solidFill>
                          <a:schemeClr val="bg1"/>
                        </a:solidFill>
                      </a:rPr>
                      <a:t>1.1400</a:t>
                    </a:r>
                    <a:endParaRPr kumimoji="1" lang="ko-KR" altLang="en-US" sz="1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5BBB015B-2742-4862-0B61-8A37E51480D9}"/>
                    </a:ext>
                  </a:extLst>
                </p:cNvPr>
                <p:cNvGrpSpPr/>
                <p:nvPr/>
              </p:nvGrpSpPr>
              <p:grpSpPr>
                <a:xfrm>
                  <a:off x="2493819" y="2185675"/>
                  <a:ext cx="945573" cy="2417499"/>
                  <a:chOff x="2493819" y="2185675"/>
                  <a:chExt cx="945573" cy="2417499"/>
                </a:xfrm>
              </p:grpSpPr>
              <p:grpSp>
                <p:nvGrpSpPr>
                  <p:cNvPr id="26" name="그룹 25">
                    <a:extLst>
                      <a:ext uri="{FF2B5EF4-FFF2-40B4-BE49-F238E27FC236}">
                        <a16:creationId xmlns:a16="http://schemas.microsoft.com/office/drawing/2014/main" id="{38C55D94-9E3C-0636-9047-64252B317DB0}"/>
                      </a:ext>
                    </a:extLst>
                  </p:cNvPr>
                  <p:cNvGrpSpPr/>
                  <p:nvPr/>
                </p:nvGrpSpPr>
                <p:grpSpPr>
                  <a:xfrm>
                    <a:off x="2493819" y="2185675"/>
                    <a:ext cx="945573" cy="2417499"/>
                    <a:chOff x="1371600" y="2175284"/>
                    <a:chExt cx="945573" cy="2417499"/>
                  </a:xfrm>
                </p:grpSpPr>
                <p:sp>
                  <p:nvSpPr>
                    <p:cNvPr id="28" name="직사각형 27">
                      <a:extLst>
                        <a:ext uri="{FF2B5EF4-FFF2-40B4-BE49-F238E27FC236}">
                          <a16:creationId xmlns:a16="http://schemas.microsoft.com/office/drawing/2014/main" id="{CEC64455-E395-219E-E4AA-28523407FE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71600" y="2527182"/>
                      <a:ext cx="945573" cy="2065601"/>
                    </a:xfrm>
                    <a:prstGeom prst="rect">
                      <a:avLst/>
                    </a:prstGeom>
                    <a:solidFill>
                      <a:srgbClr val="B6000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cxnSp>
                  <p:nvCxnSpPr>
                    <p:cNvPr id="29" name="직선 연결선[R] 28">
                      <a:extLst>
                        <a:ext uri="{FF2B5EF4-FFF2-40B4-BE49-F238E27FC236}">
                          <a16:creationId xmlns:a16="http://schemas.microsoft.com/office/drawing/2014/main" id="{B0C96658-75E9-7195-307D-9DB6AA468FE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662545" y="2446870"/>
                      <a:ext cx="353292" cy="0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5E6E049C-E2FF-926F-4976-F8153C6555E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32858" y="2175284"/>
                      <a:ext cx="612277" cy="26328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en-US" altLang="ko-KR" sz="1000" b="1" dirty="0">
                          <a:solidFill>
                            <a:schemeClr val="bg1"/>
                          </a:solidFill>
                        </a:rPr>
                        <a:t>1.1274</a:t>
                      </a:r>
                      <a:endParaRPr kumimoji="1" lang="ko-KR" altLang="en-US" sz="1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27" name="직선 연결선[R] 26">
                    <a:extLst>
                      <a:ext uri="{FF2B5EF4-FFF2-40B4-BE49-F238E27FC236}">
                        <a16:creationId xmlns:a16="http://schemas.microsoft.com/office/drawing/2014/main" id="{C2EC3C9F-A747-1380-DAB8-618A155130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89057" y="2595210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92397988-6AB2-4BAE-7143-856809A247BD}"/>
                    </a:ext>
                  </a:extLst>
                </p:cNvPr>
                <p:cNvGrpSpPr/>
                <p:nvPr/>
              </p:nvGrpSpPr>
              <p:grpSpPr>
                <a:xfrm>
                  <a:off x="3697201" y="1648799"/>
                  <a:ext cx="945573" cy="2954374"/>
                  <a:chOff x="2493819" y="1648799"/>
                  <a:chExt cx="945573" cy="2954374"/>
                </a:xfrm>
              </p:grpSpPr>
              <p:grpSp>
                <p:nvGrpSpPr>
                  <p:cNvPr id="20" name="그룹 19">
                    <a:extLst>
                      <a:ext uri="{FF2B5EF4-FFF2-40B4-BE49-F238E27FC236}">
                        <a16:creationId xmlns:a16="http://schemas.microsoft.com/office/drawing/2014/main" id="{60B8E483-AA89-261B-7C86-B2DFA3EAD0F5}"/>
                      </a:ext>
                    </a:extLst>
                  </p:cNvPr>
                  <p:cNvGrpSpPr/>
                  <p:nvPr/>
                </p:nvGrpSpPr>
                <p:grpSpPr>
                  <a:xfrm>
                    <a:off x="2493819" y="1648799"/>
                    <a:ext cx="945573" cy="2954374"/>
                    <a:chOff x="1371600" y="1638408"/>
                    <a:chExt cx="945573" cy="2954374"/>
                  </a:xfrm>
                </p:grpSpPr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7270507C-482D-3A4A-F383-C34DEF9B7D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71600" y="2338529"/>
                      <a:ext cx="945573" cy="2254253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cxnSp>
                  <p:nvCxnSpPr>
                    <p:cNvPr id="23" name="직선 연결선[R] 22">
                      <a:extLst>
                        <a:ext uri="{FF2B5EF4-FFF2-40B4-BE49-F238E27FC236}">
                          <a16:creationId xmlns:a16="http://schemas.microsoft.com/office/drawing/2014/main" id="{9FCD0ED0-B07D-DF24-3798-9C903EC4EF7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662545" y="1911677"/>
                      <a:ext cx="353292" cy="0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직선 연결선[R] 23">
                      <a:extLst>
                        <a:ext uri="{FF2B5EF4-FFF2-40B4-BE49-F238E27FC236}">
                          <a16:creationId xmlns:a16="http://schemas.microsoft.com/office/drawing/2014/main" id="{9FAB404A-DFAA-90BF-2BEA-B119D210C78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49583" y="1911677"/>
                      <a:ext cx="0" cy="801461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B67EFF85-A872-CC5B-DDF4-3D79F8E138A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33052" y="1638408"/>
                      <a:ext cx="591902" cy="25452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en-US" altLang="ko-KR" sz="1000" b="1" dirty="0">
                          <a:solidFill>
                            <a:schemeClr val="bg1"/>
                          </a:solidFill>
                        </a:rPr>
                        <a:t>1.1766</a:t>
                      </a:r>
                      <a:endParaRPr kumimoji="1" lang="ko-KR" altLang="en-US" sz="1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21" name="직선 연결선[R] 20">
                    <a:extLst>
                      <a:ext uri="{FF2B5EF4-FFF2-40B4-BE49-F238E27FC236}">
                        <a16:creationId xmlns:a16="http://schemas.microsoft.com/office/drawing/2014/main" id="{7D20A0D4-99F4-FE8A-4567-2548FE15A1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95155" y="2712175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1E8753-9B73-73AC-E77C-3A31782B7370}"/>
                  </a:ext>
                </a:extLst>
              </p:cNvPr>
              <p:cNvSpPr txBox="1"/>
              <p:nvPr/>
            </p:nvSpPr>
            <p:spPr>
              <a:xfrm>
                <a:off x="1912677" y="1355508"/>
                <a:ext cx="1805662" cy="2975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dirty="0">
                    <a:solidFill>
                      <a:schemeClr val="bg1"/>
                    </a:solidFill>
                  </a:rPr>
                  <a:t>평균 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PUE (±95%</a:t>
                </a:r>
                <a:r>
                  <a:rPr kumimoji="1" lang="ko-KR" altLang="en-US" dirty="0">
                    <a:solidFill>
                      <a:schemeClr val="bg1"/>
                    </a:solidFill>
                  </a:rPr>
                  <a:t> 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CI)</a:t>
                </a:r>
                <a:r>
                  <a:rPr kumimoji="1" lang="ko-KR" altLang="en-US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E4238E-407B-A78F-5D68-308F13221188}"/>
                </a:ext>
              </a:extLst>
            </p:cNvPr>
            <p:cNvSpPr txBox="1"/>
            <p:nvPr/>
          </p:nvSpPr>
          <p:spPr>
            <a:xfrm>
              <a:off x="1570639" y="4428648"/>
              <a:ext cx="424917" cy="238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1e-4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AD86D87-D384-5ED1-85B7-92D061E4E14C}"/>
                </a:ext>
              </a:extLst>
            </p:cNvPr>
            <p:cNvSpPr txBox="1"/>
            <p:nvPr/>
          </p:nvSpPr>
          <p:spPr>
            <a:xfrm>
              <a:off x="2556766" y="4428648"/>
              <a:ext cx="510148" cy="3867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1000" dirty="0">
                  <a:solidFill>
                    <a:schemeClr val="bg1"/>
                  </a:solidFill>
                </a:rPr>
                <a:t>3e-4</a:t>
              </a:r>
            </a:p>
            <a:p>
              <a:pPr algn="ctr"/>
              <a:r>
                <a:rPr kumimoji="1" lang="en-US" altLang="ko-KR" sz="1000" dirty="0">
                  <a:solidFill>
                    <a:schemeClr val="bg1"/>
                  </a:solidFill>
                </a:rPr>
                <a:t>(</a:t>
              </a:r>
              <a:r>
                <a:rPr kumimoji="1" lang="ko-KR" altLang="en-US" sz="1000" dirty="0">
                  <a:solidFill>
                    <a:schemeClr val="bg1"/>
                  </a:solidFill>
                </a:rPr>
                <a:t>기본</a:t>
              </a:r>
              <a:r>
                <a:rPr kumimoji="1" lang="en-US" altLang="ko-KR" sz="1000" dirty="0">
                  <a:solidFill>
                    <a:schemeClr val="bg1"/>
                  </a:solidFill>
                </a:rPr>
                <a:t>)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C7980C1-3A08-2C9E-3C10-DC87BBA8E375}"/>
                </a:ext>
              </a:extLst>
            </p:cNvPr>
            <p:cNvSpPr txBox="1"/>
            <p:nvPr/>
          </p:nvSpPr>
          <p:spPr>
            <a:xfrm>
              <a:off x="3741585" y="4428648"/>
              <a:ext cx="424917" cy="238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1e-3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AEC1C39-DB42-CA89-A24E-7C5F04D67D3F}"/>
              </a:ext>
            </a:extLst>
          </p:cNvPr>
          <p:cNvGrpSpPr/>
          <p:nvPr/>
        </p:nvGrpSpPr>
        <p:grpSpPr>
          <a:xfrm>
            <a:off x="6707070" y="1350383"/>
            <a:ext cx="3729270" cy="3594270"/>
            <a:chOff x="924792" y="1340783"/>
            <a:chExt cx="3605168" cy="3474660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4AA4006C-3444-3894-1EE4-EBA71B1E9218}"/>
                </a:ext>
              </a:extLst>
            </p:cNvPr>
            <p:cNvGrpSpPr/>
            <p:nvPr/>
          </p:nvGrpSpPr>
          <p:grpSpPr>
            <a:xfrm>
              <a:off x="924792" y="1340783"/>
              <a:ext cx="3605168" cy="3078148"/>
              <a:chOff x="924792" y="1340783"/>
              <a:chExt cx="3605168" cy="3078148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AD1049C0-E7F7-4D9E-0072-EC6CBEFDB53A}"/>
                  </a:ext>
                </a:extLst>
              </p:cNvPr>
              <p:cNvGrpSpPr/>
              <p:nvPr/>
            </p:nvGrpSpPr>
            <p:grpSpPr>
              <a:xfrm>
                <a:off x="924792" y="1610592"/>
                <a:ext cx="3605168" cy="2808339"/>
                <a:chOff x="924791" y="1610591"/>
                <a:chExt cx="3855027" cy="3002973"/>
              </a:xfrm>
            </p:grpSpPr>
            <p:cxnSp>
              <p:nvCxnSpPr>
                <p:cNvPr id="44" name="직선 연결선[R] 43">
                  <a:extLst>
                    <a:ext uri="{FF2B5EF4-FFF2-40B4-BE49-F238E27FC236}">
                      <a16:creationId xmlns:a16="http://schemas.microsoft.com/office/drawing/2014/main" id="{D35023BA-6EC8-568C-0525-BE1083DC9A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791" y="1610591"/>
                  <a:ext cx="0" cy="3002973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직선 연결선[R] 44">
                  <a:extLst>
                    <a:ext uri="{FF2B5EF4-FFF2-40B4-BE49-F238E27FC236}">
                      <a16:creationId xmlns:a16="http://schemas.microsoft.com/office/drawing/2014/main" id="{6DB6B248-B914-A8A3-DA62-39BA4FAE24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24791" y="4613564"/>
                  <a:ext cx="3855027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6" name="그룹 45">
                  <a:extLst>
                    <a:ext uri="{FF2B5EF4-FFF2-40B4-BE49-F238E27FC236}">
                      <a16:creationId xmlns:a16="http://schemas.microsoft.com/office/drawing/2014/main" id="{B4198E99-C0BB-8070-6F92-64BD001D5C9E}"/>
                    </a:ext>
                  </a:extLst>
                </p:cNvPr>
                <p:cNvGrpSpPr/>
                <p:nvPr/>
              </p:nvGrpSpPr>
              <p:grpSpPr>
                <a:xfrm>
                  <a:off x="1371600" y="2918669"/>
                  <a:ext cx="945573" cy="1674111"/>
                  <a:chOff x="1371600" y="2918669"/>
                  <a:chExt cx="945573" cy="1674111"/>
                </a:xfrm>
              </p:grpSpPr>
              <p:sp>
                <p:nvSpPr>
                  <p:cNvPr id="61" name="직사각형 60">
                    <a:extLst>
                      <a:ext uri="{FF2B5EF4-FFF2-40B4-BE49-F238E27FC236}">
                        <a16:creationId xmlns:a16="http://schemas.microsoft.com/office/drawing/2014/main" id="{6EA52DA2-3A4F-65BF-581D-91F21956EF05}"/>
                      </a:ext>
                    </a:extLst>
                  </p:cNvPr>
                  <p:cNvSpPr/>
                  <p:nvPr/>
                </p:nvSpPr>
                <p:spPr>
                  <a:xfrm>
                    <a:off x="1371600" y="3323941"/>
                    <a:ext cx="945573" cy="1268839"/>
                  </a:xfrm>
                  <a:prstGeom prst="rect">
                    <a:avLst/>
                  </a:prstGeom>
                  <a:solidFill>
                    <a:srgbClr val="B6000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ko-KR" altLang="en-US"/>
                  </a:p>
                </p:txBody>
              </p:sp>
              <p:cxnSp>
                <p:nvCxnSpPr>
                  <p:cNvPr id="62" name="직선 연결선[R] 61">
                    <a:extLst>
                      <a:ext uri="{FF2B5EF4-FFF2-40B4-BE49-F238E27FC236}">
                        <a16:creationId xmlns:a16="http://schemas.microsoft.com/office/drawing/2014/main" id="{B4F224FF-7E36-7AE8-58B4-8BD6E3C6FF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62545" y="3190639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직선 연결선[R] 62">
                    <a:extLst>
                      <a:ext uri="{FF2B5EF4-FFF2-40B4-BE49-F238E27FC236}">
                        <a16:creationId xmlns:a16="http://schemas.microsoft.com/office/drawing/2014/main" id="{0CE4966E-3C25-1007-61AC-A4602B52BE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839192" y="3172505"/>
                    <a:ext cx="0" cy="263543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직선 연결선[R] 63">
                    <a:extLst>
                      <a:ext uri="{FF2B5EF4-FFF2-40B4-BE49-F238E27FC236}">
                        <a16:creationId xmlns:a16="http://schemas.microsoft.com/office/drawing/2014/main" id="{EC4071FC-A5B1-92FF-2D14-69006C372C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662545" y="3451693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40D4BC1D-198D-0111-F2D7-8CEE8DB73F94}"/>
                      </a:ext>
                    </a:extLst>
                  </p:cNvPr>
                  <p:cNvSpPr txBox="1"/>
                  <p:nvPr/>
                </p:nvSpPr>
                <p:spPr>
                  <a:xfrm>
                    <a:off x="1548639" y="2918669"/>
                    <a:ext cx="563732" cy="25452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kumimoji="1" lang="en-US" altLang="ko-KR" sz="1000" b="1" dirty="0">
                        <a:solidFill>
                          <a:schemeClr val="bg1"/>
                        </a:solidFill>
                      </a:rPr>
                      <a:t>45.8%</a:t>
                    </a:r>
                    <a:endParaRPr kumimoji="1" lang="ko-KR" altLang="en-US" sz="1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47" name="그룹 46">
                  <a:extLst>
                    <a:ext uri="{FF2B5EF4-FFF2-40B4-BE49-F238E27FC236}">
                      <a16:creationId xmlns:a16="http://schemas.microsoft.com/office/drawing/2014/main" id="{06F17207-5544-69D8-94CB-3DA32C9654B1}"/>
                    </a:ext>
                  </a:extLst>
                </p:cNvPr>
                <p:cNvGrpSpPr/>
                <p:nvPr/>
              </p:nvGrpSpPr>
              <p:grpSpPr>
                <a:xfrm>
                  <a:off x="2493819" y="2725863"/>
                  <a:ext cx="945573" cy="1877312"/>
                  <a:chOff x="2493819" y="2725863"/>
                  <a:chExt cx="945573" cy="1877312"/>
                </a:xfrm>
              </p:grpSpPr>
              <p:grpSp>
                <p:nvGrpSpPr>
                  <p:cNvPr id="55" name="그룹 54">
                    <a:extLst>
                      <a:ext uri="{FF2B5EF4-FFF2-40B4-BE49-F238E27FC236}">
                        <a16:creationId xmlns:a16="http://schemas.microsoft.com/office/drawing/2014/main" id="{5ACC131C-6349-E3C9-B8FA-E5342EFDA252}"/>
                      </a:ext>
                    </a:extLst>
                  </p:cNvPr>
                  <p:cNvGrpSpPr/>
                  <p:nvPr/>
                </p:nvGrpSpPr>
                <p:grpSpPr>
                  <a:xfrm>
                    <a:off x="2493819" y="2725863"/>
                    <a:ext cx="945573" cy="1877312"/>
                    <a:chOff x="1371600" y="2715472"/>
                    <a:chExt cx="945573" cy="1877312"/>
                  </a:xfrm>
                </p:grpSpPr>
                <p:sp>
                  <p:nvSpPr>
                    <p:cNvPr id="57" name="직사각형 56">
                      <a:extLst>
                        <a:ext uri="{FF2B5EF4-FFF2-40B4-BE49-F238E27FC236}">
                          <a16:creationId xmlns:a16="http://schemas.microsoft.com/office/drawing/2014/main" id="{FB64AAA5-9548-1322-10E5-D840F488C7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71600" y="3186349"/>
                      <a:ext cx="945573" cy="1406435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cxnSp>
                  <p:nvCxnSpPr>
                    <p:cNvPr id="58" name="직선 연결선[R] 57">
                      <a:extLst>
                        <a:ext uri="{FF2B5EF4-FFF2-40B4-BE49-F238E27FC236}">
                          <a16:creationId xmlns:a16="http://schemas.microsoft.com/office/drawing/2014/main" id="{C9262BB9-9CB3-62E7-C65E-F2972C3B21A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662545" y="2980453"/>
                      <a:ext cx="353292" cy="0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" name="직선 연결선[R] 58">
                      <a:extLst>
                        <a:ext uri="{FF2B5EF4-FFF2-40B4-BE49-F238E27FC236}">
                          <a16:creationId xmlns:a16="http://schemas.microsoft.com/office/drawing/2014/main" id="{57E8AE14-F5A2-8874-C3D6-D6F5518BC7D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49583" y="2946655"/>
                      <a:ext cx="0" cy="427865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0" name="TextBox 59">
                      <a:extLst>
                        <a:ext uri="{FF2B5EF4-FFF2-40B4-BE49-F238E27FC236}">
                          <a16:creationId xmlns:a16="http://schemas.microsoft.com/office/drawing/2014/main" id="{D6C31D1B-938E-4901-A902-41A610B8FB6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67716" y="2715472"/>
                      <a:ext cx="563732" cy="25452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en-US" altLang="ko-KR" sz="1000" b="1" dirty="0">
                          <a:solidFill>
                            <a:schemeClr val="bg1"/>
                          </a:solidFill>
                        </a:rPr>
                        <a:t>49.5%</a:t>
                      </a:r>
                      <a:endParaRPr kumimoji="1" lang="ko-KR" altLang="en-US" sz="1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56" name="직선 연결선[R] 55">
                    <a:extLst>
                      <a:ext uri="{FF2B5EF4-FFF2-40B4-BE49-F238E27FC236}">
                        <a16:creationId xmlns:a16="http://schemas.microsoft.com/office/drawing/2014/main" id="{EF4245FF-78A1-4769-1684-A7D37BAE9E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95155" y="3384916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8" name="그룹 47">
                  <a:extLst>
                    <a:ext uri="{FF2B5EF4-FFF2-40B4-BE49-F238E27FC236}">
                      <a16:creationId xmlns:a16="http://schemas.microsoft.com/office/drawing/2014/main" id="{9AFFA47A-A165-7E53-FE27-0A3E17E06307}"/>
                    </a:ext>
                  </a:extLst>
                </p:cNvPr>
                <p:cNvGrpSpPr/>
                <p:nvPr/>
              </p:nvGrpSpPr>
              <p:grpSpPr>
                <a:xfrm>
                  <a:off x="3697201" y="1702392"/>
                  <a:ext cx="945573" cy="2900782"/>
                  <a:chOff x="2493819" y="1702392"/>
                  <a:chExt cx="945573" cy="2900782"/>
                </a:xfrm>
              </p:grpSpPr>
              <p:grpSp>
                <p:nvGrpSpPr>
                  <p:cNvPr id="49" name="그룹 48">
                    <a:extLst>
                      <a:ext uri="{FF2B5EF4-FFF2-40B4-BE49-F238E27FC236}">
                        <a16:creationId xmlns:a16="http://schemas.microsoft.com/office/drawing/2014/main" id="{A079C822-5784-2099-2008-EA183FB8390C}"/>
                      </a:ext>
                    </a:extLst>
                  </p:cNvPr>
                  <p:cNvGrpSpPr/>
                  <p:nvPr/>
                </p:nvGrpSpPr>
                <p:grpSpPr>
                  <a:xfrm>
                    <a:off x="2493819" y="1702392"/>
                    <a:ext cx="945573" cy="2900782"/>
                    <a:chOff x="1371600" y="1692001"/>
                    <a:chExt cx="945573" cy="2900782"/>
                  </a:xfrm>
                </p:grpSpPr>
                <p:sp>
                  <p:nvSpPr>
                    <p:cNvPr id="51" name="직사각형 50">
                      <a:extLst>
                        <a:ext uri="{FF2B5EF4-FFF2-40B4-BE49-F238E27FC236}">
                          <a16:creationId xmlns:a16="http://schemas.microsoft.com/office/drawing/2014/main" id="{F1D4B366-1B51-244A-7B7A-2477A8526A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71600" y="3023618"/>
                      <a:ext cx="945573" cy="1569165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ko-KR" altLang="en-US"/>
                    </a:p>
                  </p:txBody>
                </p:sp>
                <p:cxnSp>
                  <p:nvCxnSpPr>
                    <p:cNvPr id="52" name="직선 연결선[R] 51">
                      <a:extLst>
                        <a:ext uri="{FF2B5EF4-FFF2-40B4-BE49-F238E27FC236}">
                          <a16:creationId xmlns:a16="http://schemas.microsoft.com/office/drawing/2014/main" id="{9E74707E-BBED-00DC-18C9-695E3B17AAC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662545" y="1911677"/>
                      <a:ext cx="353292" cy="0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" name="직선 연결선[R] 52">
                      <a:extLst>
                        <a:ext uri="{FF2B5EF4-FFF2-40B4-BE49-F238E27FC236}">
                          <a16:creationId xmlns:a16="http://schemas.microsoft.com/office/drawing/2014/main" id="{32EA866F-A8C1-02EE-B4A6-F8FF15D9F1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49583" y="1911677"/>
                      <a:ext cx="0" cy="1913169"/>
                    </a:xfrm>
                    <a:prstGeom prst="line">
                      <a:avLst/>
                    </a:prstGeom>
                    <a:ln w="28575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4" name="TextBox 53">
                      <a:extLst>
                        <a:ext uri="{FF2B5EF4-FFF2-40B4-BE49-F238E27FC236}">
                          <a16:creationId xmlns:a16="http://schemas.microsoft.com/office/drawing/2014/main" id="{C73858A4-9ABB-EE32-E0AF-AA78AAFB48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67716" y="1692001"/>
                      <a:ext cx="563732" cy="25452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en-US" altLang="ko-KR" sz="1000" b="1" dirty="0">
                          <a:solidFill>
                            <a:schemeClr val="bg1"/>
                          </a:solidFill>
                        </a:rPr>
                        <a:t>52.3%</a:t>
                      </a:r>
                      <a:endParaRPr kumimoji="1" lang="ko-KR" altLang="en-US" sz="1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50" name="직선 연결선[R] 49">
                    <a:extLst>
                      <a:ext uri="{FF2B5EF4-FFF2-40B4-BE49-F238E27FC236}">
                        <a16:creationId xmlns:a16="http://schemas.microsoft.com/office/drawing/2014/main" id="{AC342302-35F0-5639-7205-17D6FE4458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795155" y="3835237"/>
                    <a:ext cx="353292" cy="0"/>
                  </a:xfrm>
                  <a:prstGeom prst="line">
                    <a:avLst/>
                  </a:prstGeom>
                  <a:ln w="28575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B7B097D-A0E1-9C0A-203E-DB0C6FFEC6A5}"/>
                  </a:ext>
                </a:extLst>
              </p:cNvPr>
              <p:cNvSpPr txBox="1"/>
              <p:nvPr/>
            </p:nvSpPr>
            <p:spPr>
              <a:xfrm>
                <a:off x="1902978" y="1340783"/>
                <a:ext cx="1872298" cy="2975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dirty="0">
                    <a:solidFill>
                      <a:schemeClr val="bg1"/>
                    </a:solidFill>
                  </a:rPr>
                  <a:t>냉각절감율 </a:t>
                </a:r>
                <a:r>
                  <a:rPr kumimoji="1" lang="en-US" altLang="ko-KR" dirty="0">
                    <a:solidFill>
                      <a:schemeClr val="bg1"/>
                    </a:solidFill>
                  </a:rPr>
                  <a:t>(±95% CI)</a:t>
                </a: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2A7F3DE-2AB7-7759-BE5D-929F97B23136}"/>
                </a:ext>
              </a:extLst>
            </p:cNvPr>
            <p:cNvSpPr txBox="1"/>
            <p:nvPr/>
          </p:nvSpPr>
          <p:spPr>
            <a:xfrm>
              <a:off x="1570639" y="4428648"/>
              <a:ext cx="424917" cy="238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1e-4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6F22510-7584-A878-BB12-C203BCECA3B0}"/>
                </a:ext>
              </a:extLst>
            </p:cNvPr>
            <p:cNvSpPr txBox="1"/>
            <p:nvPr/>
          </p:nvSpPr>
          <p:spPr>
            <a:xfrm>
              <a:off x="2556766" y="4428648"/>
              <a:ext cx="510148" cy="3867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1000" dirty="0">
                  <a:solidFill>
                    <a:schemeClr val="bg1"/>
                  </a:solidFill>
                </a:rPr>
                <a:t>3e-4</a:t>
              </a:r>
            </a:p>
            <a:p>
              <a:pPr algn="ctr"/>
              <a:r>
                <a:rPr kumimoji="1" lang="en-US" altLang="ko-KR" sz="1000" dirty="0">
                  <a:solidFill>
                    <a:schemeClr val="bg1"/>
                  </a:solidFill>
                </a:rPr>
                <a:t>(</a:t>
              </a:r>
              <a:r>
                <a:rPr kumimoji="1" lang="ko-KR" altLang="en-US" sz="1000" dirty="0">
                  <a:solidFill>
                    <a:schemeClr val="bg1"/>
                  </a:solidFill>
                </a:rPr>
                <a:t>기본</a:t>
              </a:r>
              <a:r>
                <a:rPr kumimoji="1" lang="en-US" altLang="ko-KR" sz="1000" dirty="0">
                  <a:solidFill>
                    <a:schemeClr val="bg1"/>
                  </a:solidFill>
                </a:rPr>
                <a:t>)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B7505E4-1CB9-9C88-461D-9B7A9C5AB82C}"/>
                </a:ext>
              </a:extLst>
            </p:cNvPr>
            <p:cNvSpPr txBox="1"/>
            <p:nvPr/>
          </p:nvSpPr>
          <p:spPr>
            <a:xfrm>
              <a:off x="3741585" y="4428648"/>
              <a:ext cx="424917" cy="238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chemeClr val="bg1"/>
                  </a:solidFill>
                </a:rPr>
                <a:t>1e-3</a:t>
              </a:r>
              <a:endParaRPr kumimoji="1" lang="ko-KR" altLang="en-US" sz="10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67" name="직선 연결선[R] 66">
            <a:extLst>
              <a:ext uri="{FF2B5EF4-FFF2-40B4-BE49-F238E27FC236}">
                <a16:creationId xmlns:a16="http://schemas.microsoft.com/office/drawing/2014/main" id="{5FD72B53-F678-0F0D-90A1-A3072CCD2921}"/>
              </a:ext>
            </a:extLst>
          </p:cNvPr>
          <p:cNvCxnSpPr>
            <a:cxnSpLocks/>
          </p:cNvCxnSpPr>
          <p:nvPr/>
        </p:nvCxnSpPr>
        <p:spPr>
          <a:xfrm flipV="1">
            <a:off x="3485277" y="2430392"/>
            <a:ext cx="0" cy="13710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Google Shape;376;p24">
            <a:extLst>
              <a:ext uri="{FF2B5EF4-FFF2-40B4-BE49-F238E27FC236}">
                <a16:creationId xmlns:a16="http://schemas.microsoft.com/office/drawing/2014/main" id="{7874F1FF-3EE2-D9CD-FB38-19B95308BEF0}"/>
              </a:ext>
            </a:extLst>
          </p:cNvPr>
          <p:cNvSpPr txBox="1"/>
          <p:nvPr/>
        </p:nvSpPr>
        <p:spPr>
          <a:xfrm>
            <a:off x="723900" y="558284"/>
            <a:ext cx="79959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2400" b="1" dirty="0" err="1">
                <a:solidFill>
                  <a:schemeClr val="bg1"/>
                </a:solidFill>
              </a:rPr>
              <a:t>하이퍼파라미터</a:t>
            </a:r>
            <a:r>
              <a:rPr lang="ko-KR" altLang="en-US" sz="2400" b="1" dirty="0">
                <a:solidFill>
                  <a:schemeClr val="bg1"/>
                </a:solidFill>
              </a:rPr>
              <a:t> 비교</a:t>
            </a:r>
            <a:r>
              <a:rPr lang="en-US" altLang="ko-KR" sz="2400" b="1" dirty="0">
                <a:solidFill>
                  <a:schemeClr val="bg1"/>
                </a:solidFill>
              </a:rPr>
              <a:t>:</a:t>
            </a:r>
            <a:r>
              <a:rPr lang="ko-KR" altLang="en-US" sz="2400" b="1" dirty="0">
                <a:solidFill>
                  <a:schemeClr val="bg1"/>
                </a:solidFill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</a:rPr>
              <a:t>PPO</a:t>
            </a:r>
            <a:r>
              <a:rPr lang="ko-KR" altLang="en-US" sz="2400" b="1" dirty="0">
                <a:solidFill>
                  <a:schemeClr val="bg1"/>
                </a:solidFill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</a:rPr>
              <a:t>Learning</a:t>
            </a:r>
            <a:r>
              <a:rPr lang="ko-KR" altLang="en-US" sz="2400" b="1" dirty="0">
                <a:solidFill>
                  <a:schemeClr val="bg1"/>
                </a:solidFill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</a:rPr>
              <a:t>Rate</a:t>
            </a:r>
          </a:p>
        </p:txBody>
      </p:sp>
    </p:spTree>
    <p:extLst>
      <p:ext uri="{BB962C8B-B14F-4D97-AF65-F5344CB8AC3E}">
        <p14:creationId xmlns:p14="http://schemas.microsoft.com/office/powerpoint/2010/main" val="2378232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6;p24">
            <a:extLst>
              <a:ext uri="{FF2B5EF4-FFF2-40B4-BE49-F238E27FC236}">
                <a16:creationId xmlns:a16="http://schemas.microsoft.com/office/drawing/2014/main" id="{65308939-43D8-4C90-21C0-D3E3194AE2CB}"/>
              </a:ext>
            </a:extLst>
          </p:cNvPr>
          <p:cNvSpPr txBox="1"/>
          <p:nvPr/>
        </p:nvSpPr>
        <p:spPr>
          <a:xfrm>
            <a:off x="723900" y="558284"/>
            <a:ext cx="79959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연구 결론 및 향후 </a:t>
            </a:r>
            <a:r>
              <a:rPr lang="ko-KR" altLang="en-US" sz="2400" b="1" dirty="0" err="1">
                <a:solidFill>
                  <a:schemeClr val="bg1"/>
                </a:solidFill>
              </a:rPr>
              <a:t>실환경</a:t>
            </a:r>
            <a:r>
              <a:rPr lang="ko-KR" altLang="en-US" sz="2400" b="1" dirty="0">
                <a:solidFill>
                  <a:schemeClr val="bg1"/>
                </a:solidFill>
              </a:rPr>
              <a:t> 상용 고도화 과제</a:t>
            </a:r>
            <a:endParaRPr lang="en-US" altLang="ko-KR" sz="2400" b="1" dirty="0">
              <a:solidFill>
                <a:schemeClr val="bg1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3002773-8F7A-514E-58F4-701C013EA5A4}"/>
              </a:ext>
            </a:extLst>
          </p:cNvPr>
          <p:cNvGrpSpPr/>
          <p:nvPr/>
        </p:nvGrpSpPr>
        <p:grpSpPr>
          <a:xfrm>
            <a:off x="320642" y="1948904"/>
            <a:ext cx="5379104" cy="2762940"/>
            <a:chOff x="718597" y="1416205"/>
            <a:chExt cx="4003288" cy="1901285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4D71BDA-2ACB-BE19-C7C9-769D949050FC}"/>
                </a:ext>
              </a:extLst>
            </p:cNvPr>
            <p:cNvGrpSpPr/>
            <p:nvPr/>
          </p:nvGrpSpPr>
          <p:grpSpPr>
            <a:xfrm>
              <a:off x="718597" y="1416205"/>
              <a:ext cx="4003288" cy="1901285"/>
              <a:chOff x="718597" y="1416205"/>
              <a:chExt cx="4003288" cy="1901285"/>
            </a:xfrm>
          </p:grpSpPr>
          <p:sp>
            <p:nvSpPr>
              <p:cNvPr id="3" name="모서리가 둥근 직사각형 2">
                <a:extLst>
                  <a:ext uri="{FF2B5EF4-FFF2-40B4-BE49-F238E27FC236}">
                    <a16:creationId xmlns:a16="http://schemas.microsoft.com/office/drawing/2014/main" id="{8682CE7C-4F55-72E8-C732-831876A3EB33}"/>
                  </a:ext>
                </a:extLst>
              </p:cNvPr>
              <p:cNvSpPr/>
              <p:nvPr/>
            </p:nvSpPr>
            <p:spPr>
              <a:xfrm>
                <a:off x="718597" y="1416205"/>
                <a:ext cx="4003288" cy="1845527"/>
              </a:xfrm>
              <a:prstGeom prst="roundRect">
                <a:avLst>
                  <a:gd name="adj" fmla="val 3374"/>
                </a:avLst>
              </a:prstGeom>
              <a:solidFill>
                <a:srgbClr val="B600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4" name="모서리가 둥근 직사각형 3">
                <a:extLst>
                  <a:ext uri="{FF2B5EF4-FFF2-40B4-BE49-F238E27FC236}">
                    <a16:creationId xmlns:a16="http://schemas.microsoft.com/office/drawing/2014/main" id="{3094168E-A6B0-30DE-AE2D-C6429F231D47}"/>
                  </a:ext>
                </a:extLst>
              </p:cNvPr>
              <p:cNvSpPr/>
              <p:nvPr/>
            </p:nvSpPr>
            <p:spPr>
              <a:xfrm>
                <a:off x="718597" y="1471963"/>
                <a:ext cx="4003288" cy="1845527"/>
              </a:xfrm>
              <a:prstGeom prst="roundRect">
                <a:avLst>
                  <a:gd name="adj" fmla="val 3374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211382D-82D5-FCD2-2FDB-D6D7138A24F0}"/>
                </a:ext>
              </a:extLst>
            </p:cNvPr>
            <p:cNvSpPr txBox="1"/>
            <p:nvPr/>
          </p:nvSpPr>
          <p:spPr>
            <a:xfrm>
              <a:off x="718597" y="1471963"/>
              <a:ext cx="1821953" cy="275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rgbClr val="FF0000"/>
                  </a:solidFill>
                </a:rPr>
                <a:t>한계점 진단 및 개선</a:t>
              </a:r>
              <a:endParaRPr kumimoji="1" lang="en-US" altLang="ko-KR" sz="2000" b="1" dirty="0">
                <a:solidFill>
                  <a:srgbClr val="FF0000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D150005-DCD1-66EB-006C-FB36BF0A61AC}"/>
                </a:ext>
              </a:extLst>
            </p:cNvPr>
            <p:cNvSpPr txBox="1"/>
            <p:nvPr/>
          </p:nvSpPr>
          <p:spPr>
            <a:xfrm>
              <a:off x="975621" y="1779740"/>
              <a:ext cx="3425348" cy="3176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b="1" dirty="0">
                  <a:solidFill>
                    <a:schemeClr val="bg1"/>
                  </a:solidFill>
                </a:rPr>
                <a:t>PUE</a:t>
              </a:r>
              <a:r>
                <a:rPr kumimoji="1" lang="ko-KR" altLang="en-US" sz="1200" b="1" dirty="0">
                  <a:solidFill>
                    <a:schemeClr val="bg1"/>
                  </a:solidFill>
                </a:rPr>
                <a:t> 신호 최적화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: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 </a:t>
              </a:r>
              <a:r>
                <a:rPr kumimoji="1" lang="ko-KR" altLang="en-US" sz="1200" dirty="0" err="1">
                  <a:solidFill>
                    <a:schemeClr val="bg1"/>
                  </a:solidFill>
                </a:rPr>
                <a:t>칠러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 동력 배제로 인한 좁은 응답 범위 확인 및 </a:t>
              </a:r>
              <a:endParaRPr kumimoji="1" lang="en-US" altLang="ko-KR" sz="1200" dirty="0">
                <a:solidFill>
                  <a:schemeClr val="bg1"/>
                </a:solidFill>
              </a:endParaRPr>
            </a:p>
            <a:p>
              <a:r>
                <a:rPr kumimoji="1" lang="ko-KR" altLang="en-US" sz="1200" dirty="0">
                  <a:solidFill>
                    <a:schemeClr val="bg1"/>
                  </a:solidFill>
                </a:rPr>
                <a:t>수식 결합 완료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92BAED1-856C-A8F2-4687-928E36A504E9}"/>
                </a:ext>
              </a:extLst>
            </p:cNvPr>
            <p:cNvSpPr txBox="1"/>
            <p:nvPr/>
          </p:nvSpPr>
          <p:spPr>
            <a:xfrm>
              <a:off x="975621" y="2326410"/>
              <a:ext cx="3271451" cy="3176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b="1" dirty="0">
                  <a:solidFill>
                    <a:schemeClr val="bg1"/>
                  </a:solidFill>
                </a:rPr>
                <a:t>안정성 보정</a:t>
              </a:r>
              <a:r>
                <a:rPr kumimoji="1" lang="en-US" altLang="ko-KR" sz="1200" b="1" dirty="0">
                  <a:solidFill>
                    <a:schemeClr val="bg1"/>
                  </a:solidFill>
                </a:rPr>
                <a:t>:</a:t>
              </a:r>
              <a:r>
                <a:rPr kumimoji="1" lang="ko-KR" altLang="en-US" sz="1200" b="1" dirty="0">
                  <a:solidFill>
                    <a:schemeClr val="bg1"/>
                  </a:solidFill>
                </a:rPr>
                <a:t> </a:t>
              </a:r>
              <a:r>
                <a:rPr kumimoji="1" lang="ko-KR" altLang="en-US" sz="1200" dirty="0" err="1">
                  <a:solidFill>
                    <a:schemeClr val="bg1"/>
                  </a:solidFill>
                </a:rPr>
                <a:t>과동한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 보폭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(</a:t>
              </a:r>
              <a:r>
                <a:rPr kumimoji="1" lang="en-US" altLang="ko-KR" sz="1200" dirty="0" err="1">
                  <a:solidFill>
                    <a:schemeClr val="bg1"/>
                  </a:solidFill>
                </a:rPr>
                <a:t>lr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=3e-4) 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조정 및 버퍼 확장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(300K)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을 </a:t>
              </a:r>
              <a:br>
                <a:rPr kumimoji="1" lang="en-US" altLang="ko-KR" sz="1200" dirty="0">
                  <a:solidFill>
                    <a:schemeClr val="bg1"/>
                  </a:solidFill>
                </a:rPr>
              </a:br>
              <a:r>
                <a:rPr kumimoji="1" lang="ko-KR" altLang="en-US" sz="1200" dirty="0">
                  <a:solidFill>
                    <a:schemeClr val="bg1"/>
                  </a:solidFill>
                </a:rPr>
                <a:t>통한 보상 진동 억제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DCF4A9E-C727-D857-77B2-F50182D4B18A}"/>
                </a:ext>
              </a:extLst>
            </p:cNvPr>
            <p:cNvSpPr txBox="1"/>
            <p:nvPr/>
          </p:nvSpPr>
          <p:spPr>
            <a:xfrm>
              <a:off x="1017375" y="2868836"/>
              <a:ext cx="3187941" cy="3176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b="1" dirty="0">
                  <a:solidFill>
                    <a:schemeClr val="bg1"/>
                  </a:solidFill>
                </a:rPr>
                <a:t>관측 확장</a:t>
              </a:r>
              <a:r>
                <a:rPr kumimoji="1" lang="en-US" altLang="ko-KR" sz="1200" b="1" dirty="0">
                  <a:solidFill>
                    <a:schemeClr val="bg1"/>
                  </a:solidFill>
                </a:rPr>
                <a:t>:</a:t>
              </a:r>
              <a:r>
                <a:rPr kumimoji="1" lang="ko-KR" altLang="en-US" sz="1200" b="1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State 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정보에 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‘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이전 행동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’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을 결합하여 상태 정의의 </a:t>
              </a:r>
              <a:br>
                <a:rPr kumimoji="1" lang="en-US" altLang="ko-KR" sz="1200" dirty="0">
                  <a:solidFill>
                    <a:schemeClr val="bg1"/>
                  </a:solidFill>
                </a:rPr>
              </a:br>
              <a:r>
                <a:rPr kumimoji="1" lang="ko-KR" altLang="en-US" sz="1200" dirty="0">
                  <a:solidFill>
                    <a:schemeClr val="bg1"/>
                  </a:solidFill>
                </a:rPr>
                <a:t>정확도 및 적응력 향상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1E522FD-73D0-D007-ADED-73E166F8E449}"/>
              </a:ext>
            </a:extLst>
          </p:cNvPr>
          <p:cNvGrpSpPr/>
          <p:nvPr/>
        </p:nvGrpSpPr>
        <p:grpSpPr>
          <a:xfrm>
            <a:off x="5972212" y="1948904"/>
            <a:ext cx="5867791" cy="2762940"/>
            <a:chOff x="4869630" y="1889680"/>
            <a:chExt cx="4003288" cy="1885010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2AFB35C5-905D-ECC2-47E5-12B4069A7E5F}"/>
                </a:ext>
              </a:extLst>
            </p:cNvPr>
            <p:cNvGrpSpPr/>
            <p:nvPr/>
          </p:nvGrpSpPr>
          <p:grpSpPr>
            <a:xfrm>
              <a:off x="4869630" y="1889680"/>
              <a:ext cx="4003288" cy="1885010"/>
              <a:chOff x="4898747" y="2083051"/>
              <a:chExt cx="4003288" cy="1885010"/>
            </a:xfrm>
          </p:grpSpPr>
          <p:sp>
            <p:nvSpPr>
              <p:cNvPr id="13" name="모서리가 둥근 직사각형 12">
                <a:extLst>
                  <a:ext uri="{FF2B5EF4-FFF2-40B4-BE49-F238E27FC236}">
                    <a16:creationId xmlns:a16="http://schemas.microsoft.com/office/drawing/2014/main" id="{B4089EBE-AD9D-758F-17C0-08A29DF1E06A}"/>
                  </a:ext>
                </a:extLst>
              </p:cNvPr>
              <p:cNvSpPr/>
              <p:nvPr/>
            </p:nvSpPr>
            <p:spPr>
              <a:xfrm>
                <a:off x="4898747" y="2083051"/>
                <a:ext cx="4003288" cy="1845527"/>
              </a:xfrm>
              <a:prstGeom prst="roundRect">
                <a:avLst>
                  <a:gd name="adj" fmla="val 3374"/>
                </a:avLst>
              </a:prstGeom>
              <a:solidFill>
                <a:srgbClr val="B600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2" name="모서리가 둥근 직사각형 11">
                <a:extLst>
                  <a:ext uri="{FF2B5EF4-FFF2-40B4-BE49-F238E27FC236}">
                    <a16:creationId xmlns:a16="http://schemas.microsoft.com/office/drawing/2014/main" id="{927CC161-F2F3-0EB1-36A1-D33980BBC2AF}"/>
                  </a:ext>
                </a:extLst>
              </p:cNvPr>
              <p:cNvSpPr/>
              <p:nvPr/>
            </p:nvSpPr>
            <p:spPr>
              <a:xfrm>
                <a:off x="4898747" y="2122534"/>
                <a:ext cx="4003288" cy="1845527"/>
              </a:xfrm>
              <a:prstGeom prst="roundRect">
                <a:avLst>
                  <a:gd name="adj" fmla="val 3374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3F97F5E-8A52-FA06-BAC5-218366B645AB}"/>
                </a:ext>
              </a:extLst>
            </p:cNvPr>
            <p:cNvSpPr txBox="1"/>
            <p:nvPr/>
          </p:nvSpPr>
          <p:spPr>
            <a:xfrm>
              <a:off x="4869630" y="1957495"/>
              <a:ext cx="17700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b="1" dirty="0">
                  <a:solidFill>
                    <a:srgbClr val="FF0000"/>
                  </a:solidFill>
                </a:rPr>
                <a:t>핵심 연구 성과 요약</a:t>
              </a:r>
              <a:endParaRPr kumimoji="1" lang="en-US" altLang="ko-KR" b="1" dirty="0">
                <a:solidFill>
                  <a:srgbClr val="FF0000"/>
                </a:solidFill>
              </a:endParaRPr>
            </a:p>
          </p:txBody>
        </p:sp>
        <p:sp>
          <p:nvSpPr>
            <p:cNvPr id="17" name="모서리가 둥근 직사각형 16">
              <a:extLst>
                <a:ext uri="{FF2B5EF4-FFF2-40B4-BE49-F238E27FC236}">
                  <a16:creationId xmlns:a16="http://schemas.microsoft.com/office/drawing/2014/main" id="{FEF7A8BA-8A4F-C1AA-854B-B3827FBB1D9A}"/>
                </a:ext>
              </a:extLst>
            </p:cNvPr>
            <p:cNvSpPr/>
            <p:nvPr/>
          </p:nvSpPr>
          <p:spPr>
            <a:xfrm>
              <a:off x="4942561" y="2256906"/>
              <a:ext cx="1731663" cy="674647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D804BEC-9A03-1C65-043B-3E2767616545}"/>
                </a:ext>
              </a:extLst>
            </p:cNvPr>
            <p:cNvSpPr txBox="1"/>
            <p:nvPr/>
          </p:nvSpPr>
          <p:spPr>
            <a:xfrm>
              <a:off x="5332659" y="2272395"/>
              <a:ext cx="902477" cy="188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최종 </a:t>
              </a:r>
              <a:r>
                <a:rPr kumimoji="1" lang="en-US" altLang="ko-KR" sz="1200" dirty="0">
                  <a:solidFill>
                    <a:schemeClr val="bg1">
                      <a:lumMod val="50000"/>
                    </a:schemeClr>
                  </a:solidFill>
                </a:rPr>
                <a:t>PUE (PPO)</a:t>
              </a:r>
              <a:endParaRPr kumimoji="1" lang="ko-KR" alt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A2EC143C-DE28-8A30-5889-99F52537D1EB}"/>
                </a:ext>
              </a:extLst>
            </p:cNvPr>
            <p:cNvSpPr/>
            <p:nvPr/>
          </p:nvSpPr>
          <p:spPr>
            <a:xfrm>
              <a:off x="6988208" y="2256905"/>
              <a:ext cx="1731663" cy="674647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1" name="모서리가 둥근 직사각형 20">
              <a:extLst>
                <a:ext uri="{FF2B5EF4-FFF2-40B4-BE49-F238E27FC236}">
                  <a16:creationId xmlns:a16="http://schemas.microsoft.com/office/drawing/2014/main" id="{AA6B4243-158C-B485-2928-43741861E3DC}"/>
                </a:ext>
              </a:extLst>
            </p:cNvPr>
            <p:cNvSpPr/>
            <p:nvPr/>
          </p:nvSpPr>
          <p:spPr>
            <a:xfrm>
              <a:off x="4942561" y="3069375"/>
              <a:ext cx="1731663" cy="674647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2" name="모서리가 둥근 직사각형 21">
              <a:extLst>
                <a:ext uri="{FF2B5EF4-FFF2-40B4-BE49-F238E27FC236}">
                  <a16:creationId xmlns:a16="http://schemas.microsoft.com/office/drawing/2014/main" id="{B73CA56B-DD11-FA5B-71AA-C7EDF7FD97DD}"/>
                </a:ext>
              </a:extLst>
            </p:cNvPr>
            <p:cNvSpPr/>
            <p:nvPr/>
          </p:nvSpPr>
          <p:spPr>
            <a:xfrm>
              <a:off x="6988208" y="3069374"/>
              <a:ext cx="1731663" cy="674647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3DA7F2-9A99-E68A-2B33-379F4AA8D95A}"/>
                </a:ext>
              </a:extLst>
            </p:cNvPr>
            <p:cNvSpPr txBox="1"/>
            <p:nvPr/>
          </p:nvSpPr>
          <p:spPr>
            <a:xfrm>
              <a:off x="7461310" y="2286157"/>
              <a:ext cx="785456" cy="188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에너지 </a:t>
              </a:r>
              <a:r>
                <a:rPr kumimoji="1" lang="ko-KR" altLang="en-US" sz="1200" dirty="0" err="1">
                  <a:solidFill>
                    <a:schemeClr val="bg1">
                      <a:lumMod val="50000"/>
                    </a:schemeClr>
                  </a:solidFill>
                </a:rPr>
                <a:t>절감률</a:t>
              </a:r>
              <a:endParaRPr kumimoji="1" lang="ko-KR" alt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C335AC2-73A4-7E01-50CA-262F9D79EAC5}"/>
                </a:ext>
              </a:extLst>
            </p:cNvPr>
            <p:cNvSpPr txBox="1"/>
            <p:nvPr/>
          </p:nvSpPr>
          <p:spPr>
            <a:xfrm>
              <a:off x="7461310" y="3099153"/>
              <a:ext cx="785456" cy="188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dirty="0" err="1">
                  <a:solidFill>
                    <a:schemeClr val="bg1">
                      <a:lumMod val="50000"/>
                    </a:schemeClr>
                  </a:solidFill>
                </a:rPr>
                <a:t>죄적</a:t>
              </a:r>
              <a:r>
                <a:rPr kumimoji="1"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 알고리즘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AAA13EB-7A8D-0889-A753-2B14C8EF5229}"/>
                </a:ext>
              </a:extLst>
            </p:cNvPr>
            <p:cNvSpPr txBox="1"/>
            <p:nvPr/>
          </p:nvSpPr>
          <p:spPr>
            <a:xfrm>
              <a:off x="5414414" y="3077473"/>
              <a:ext cx="680467" cy="1889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온도 </a:t>
              </a:r>
              <a:r>
                <a:rPr kumimoji="1" lang="ko-KR" altLang="en-US" sz="1200" dirty="0" err="1">
                  <a:solidFill>
                    <a:schemeClr val="bg1">
                      <a:lumMod val="50000"/>
                    </a:schemeClr>
                  </a:solidFill>
                </a:rPr>
                <a:t>이탈률</a:t>
              </a:r>
              <a:endParaRPr kumimoji="1" lang="ko-KR" alt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6EACF6A-5FA7-5766-B1EB-0A6518BAD640}"/>
                </a:ext>
              </a:extLst>
            </p:cNvPr>
            <p:cNvSpPr txBox="1"/>
            <p:nvPr/>
          </p:nvSpPr>
          <p:spPr>
            <a:xfrm>
              <a:off x="5342234" y="2436843"/>
              <a:ext cx="824827" cy="398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3200" b="1" dirty="0">
                  <a:solidFill>
                    <a:schemeClr val="bg1"/>
                  </a:solidFill>
                </a:rPr>
                <a:t>1.109</a:t>
              </a:r>
              <a:endParaRPr kumimoji="1" lang="ko-KR" altLang="en-US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68C7979-A8B2-EA45-AF15-761B70897165}"/>
                </a:ext>
              </a:extLst>
            </p:cNvPr>
            <p:cNvSpPr txBox="1"/>
            <p:nvPr/>
          </p:nvSpPr>
          <p:spPr>
            <a:xfrm>
              <a:off x="7398625" y="2436843"/>
              <a:ext cx="9108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3200" b="1" dirty="0">
                  <a:solidFill>
                    <a:schemeClr val="bg1"/>
                  </a:solidFill>
                </a:rPr>
                <a:t>55.3%</a:t>
              </a:r>
              <a:endParaRPr kumimoji="1" lang="ko-KR" altLang="en-US" sz="3200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CF40007-3363-2A74-39A1-3D450FB58729}"/>
                </a:ext>
              </a:extLst>
            </p:cNvPr>
            <p:cNvSpPr txBox="1"/>
            <p:nvPr/>
          </p:nvSpPr>
          <p:spPr>
            <a:xfrm>
              <a:off x="7160557" y="3284008"/>
              <a:ext cx="1386962" cy="398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3200" b="1" dirty="0">
                  <a:solidFill>
                    <a:schemeClr val="bg1"/>
                  </a:solidFill>
                </a:rPr>
                <a:t>PPO/SAC</a:t>
              </a:r>
              <a:endParaRPr kumimoji="1" lang="ko-KR" altLang="en-US" sz="32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FE0FA4-CA90-904E-635F-94D1542E8207}"/>
                </a:ext>
              </a:extLst>
            </p:cNvPr>
            <p:cNvSpPr txBox="1"/>
            <p:nvPr/>
          </p:nvSpPr>
          <p:spPr>
            <a:xfrm>
              <a:off x="5370568" y="3282860"/>
              <a:ext cx="7681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3200" b="1" dirty="0">
                  <a:solidFill>
                    <a:srgbClr val="FF0000"/>
                  </a:solidFill>
                </a:rPr>
                <a:t>0.0%</a:t>
              </a:r>
              <a:endParaRPr kumimoji="1" lang="ko-KR" altLang="en-US" sz="3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4" name="타원 33">
            <a:extLst>
              <a:ext uri="{FF2B5EF4-FFF2-40B4-BE49-F238E27FC236}">
                <a16:creationId xmlns:a16="http://schemas.microsoft.com/office/drawing/2014/main" id="{26A3FDEE-15B8-9BE9-B8E0-943A02043F3E}"/>
              </a:ext>
            </a:extLst>
          </p:cNvPr>
          <p:cNvSpPr/>
          <p:nvPr/>
        </p:nvSpPr>
        <p:spPr>
          <a:xfrm>
            <a:off x="490056" y="2570514"/>
            <a:ext cx="101853" cy="10185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F7D84142-17FF-433C-14B6-6E7237470915}"/>
              </a:ext>
            </a:extLst>
          </p:cNvPr>
          <p:cNvSpPr/>
          <p:nvPr/>
        </p:nvSpPr>
        <p:spPr>
          <a:xfrm>
            <a:off x="490056" y="3349476"/>
            <a:ext cx="101853" cy="10185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17FF9EC8-B4F9-EE47-1A93-D80958AE1149}"/>
              </a:ext>
            </a:extLst>
          </p:cNvPr>
          <p:cNvSpPr/>
          <p:nvPr/>
        </p:nvSpPr>
        <p:spPr>
          <a:xfrm>
            <a:off x="490056" y="4172461"/>
            <a:ext cx="101853" cy="10185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2E7733C6-8B1E-5382-1345-B011156E22AC}"/>
              </a:ext>
            </a:extLst>
          </p:cNvPr>
          <p:cNvGrpSpPr/>
          <p:nvPr/>
        </p:nvGrpSpPr>
        <p:grpSpPr>
          <a:xfrm>
            <a:off x="362584" y="5269539"/>
            <a:ext cx="4265921" cy="880849"/>
            <a:chOff x="448114" y="5232921"/>
            <a:chExt cx="4265921" cy="880849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9A1D5C12-F5FC-4DA6-A789-BF7EFC2AF792}"/>
                </a:ext>
              </a:extLst>
            </p:cNvPr>
            <p:cNvGrpSpPr/>
            <p:nvPr/>
          </p:nvGrpSpPr>
          <p:grpSpPr>
            <a:xfrm>
              <a:off x="448114" y="5432976"/>
              <a:ext cx="547973" cy="547973"/>
              <a:chOff x="448114" y="5432976"/>
              <a:chExt cx="547973" cy="547973"/>
            </a:xfrm>
          </p:grpSpPr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A85C7663-694F-AFE5-2221-5CBF9AD387D0}"/>
                  </a:ext>
                </a:extLst>
              </p:cNvPr>
              <p:cNvSpPr/>
              <p:nvPr/>
            </p:nvSpPr>
            <p:spPr>
              <a:xfrm>
                <a:off x="448114" y="5432976"/>
                <a:ext cx="547973" cy="54797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72C9813-999A-5641-5987-B9A945BC43B3}"/>
                  </a:ext>
                </a:extLst>
              </p:cNvPr>
              <p:cNvSpPr txBox="1"/>
              <p:nvPr/>
            </p:nvSpPr>
            <p:spPr>
              <a:xfrm>
                <a:off x="490056" y="5496968"/>
                <a:ext cx="4700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b="1" dirty="0">
                    <a:solidFill>
                      <a:schemeClr val="bg1"/>
                    </a:solidFill>
                  </a:rPr>
                  <a:t>01</a:t>
                </a:r>
                <a:endParaRPr kumimoji="1" lang="ko-KR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3797EAF-4808-E276-D8CF-CCAE80F381C9}"/>
                </a:ext>
              </a:extLst>
            </p:cNvPr>
            <p:cNvSpPr txBox="1"/>
            <p:nvPr/>
          </p:nvSpPr>
          <p:spPr>
            <a:xfrm>
              <a:off x="1038029" y="5232921"/>
              <a:ext cx="26340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bg1"/>
                  </a:solidFill>
                </a:rPr>
                <a:t>물리 시뮬레이터 개선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9AC9CE2-DF85-F0AC-7BE2-A2A52871D77F}"/>
                </a:ext>
              </a:extLst>
            </p:cNvPr>
            <p:cNvSpPr txBox="1"/>
            <p:nvPr/>
          </p:nvSpPr>
          <p:spPr>
            <a:xfrm>
              <a:off x="1038029" y="5652105"/>
              <a:ext cx="36760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dirty="0" err="1">
                  <a:solidFill>
                    <a:schemeClr val="bg1"/>
                  </a:solidFill>
                </a:rPr>
                <a:t>칠러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 압축기 전력 결합 및 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4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대 가변적 시나리오 </a:t>
              </a:r>
              <a:endParaRPr kumimoji="1" lang="en-US" altLang="ko-KR" sz="1200" dirty="0">
                <a:solidFill>
                  <a:schemeClr val="bg1"/>
                </a:solidFill>
              </a:endParaRPr>
            </a:p>
            <a:p>
              <a:r>
                <a:rPr kumimoji="1" lang="ko-KR" altLang="en-US" sz="1200" dirty="0">
                  <a:solidFill>
                    <a:schemeClr val="bg1"/>
                  </a:solidFill>
                </a:rPr>
                <a:t>고도화 정립을 통한 시뮬레이션 환경의 현실성 강화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CC98906-C5AB-81E1-EA4D-F8A70102D01E}"/>
              </a:ext>
            </a:extLst>
          </p:cNvPr>
          <p:cNvGrpSpPr/>
          <p:nvPr/>
        </p:nvGrpSpPr>
        <p:grpSpPr>
          <a:xfrm>
            <a:off x="4667226" y="5269539"/>
            <a:ext cx="3385873" cy="880849"/>
            <a:chOff x="448114" y="5232921"/>
            <a:chExt cx="3385873" cy="880849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E395793D-AB1D-BBBC-FBD2-389388DB34A4}"/>
                </a:ext>
              </a:extLst>
            </p:cNvPr>
            <p:cNvGrpSpPr/>
            <p:nvPr/>
          </p:nvGrpSpPr>
          <p:grpSpPr>
            <a:xfrm>
              <a:off x="448114" y="5432976"/>
              <a:ext cx="547973" cy="547973"/>
              <a:chOff x="448114" y="5432976"/>
              <a:chExt cx="547973" cy="547973"/>
            </a:xfrm>
          </p:grpSpPr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85B80145-8509-BE95-21B9-EF12E5D13EA0}"/>
                  </a:ext>
                </a:extLst>
              </p:cNvPr>
              <p:cNvSpPr/>
              <p:nvPr/>
            </p:nvSpPr>
            <p:spPr>
              <a:xfrm>
                <a:off x="448114" y="5432976"/>
                <a:ext cx="547973" cy="54797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7EE0ED7-72C0-407A-6181-77086376FC77}"/>
                  </a:ext>
                </a:extLst>
              </p:cNvPr>
              <p:cNvSpPr txBox="1"/>
              <p:nvPr/>
            </p:nvSpPr>
            <p:spPr>
              <a:xfrm>
                <a:off x="490056" y="5496968"/>
                <a:ext cx="4700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b="1" dirty="0">
                    <a:solidFill>
                      <a:schemeClr val="bg1"/>
                    </a:solidFill>
                  </a:rPr>
                  <a:t>02</a:t>
                </a:r>
                <a:endParaRPr kumimoji="1" lang="ko-KR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00BE381-767F-CD98-0D74-9655A0852EB0}"/>
                </a:ext>
              </a:extLst>
            </p:cNvPr>
            <p:cNvSpPr txBox="1"/>
            <p:nvPr/>
          </p:nvSpPr>
          <p:spPr>
            <a:xfrm>
              <a:off x="1038029" y="5232921"/>
              <a:ext cx="27638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2000" b="1" dirty="0" err="1">
                  <a:solidFill>
                    <a:schemeClr val="bg1"/>
                  </a:solidFill>
                </a:rPr>
                <a:t>EnergyPlus</a:t>
              </a:r>
              <a:r>
                <a:rPr kumimoji="1" lang="en-US" altLang="ko-KR" sz="2000" b="1" dirty="0">
                  <a:solidFill>
                    <a:schemeClr val="bg1"/>
                  </a:solidFill>
                </a:rPr>
                <a:t> </a:t>
              </a:r>
              <a:r>
                <a:rPr kumimoji="1" lang="ko-KR" altLang="en-US" sz="2000" b="1" dirty="0">
                  <a:solidFill>
                    <a:schemeClr val="bg1"/>
                  </a:solidFill>
                </a:rPr>
                <a:t>엔진 결합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62CA9EB-B650-78AD-078C-4A8C6A70CEE9}"/>
                </a:ext>
              </a:extLst>
            </p:cNvPr>
            <p:cNvSpPr txBox="1"/>
            <p:nvPr/>
          </p:nvSpPr>
          <p:spPr>
            <a:xfrm>
              <a:off x="1038029" y="5652105"/>
              <a:ext cx="27959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dirty="0">
                  <a:solidFill>
                    <a:schemeClr val="bg1"/>
                  </a:solidFill>
                </a:rPr>
                <a:t>건물 열역학 디지털 트윈 연동을 통한 </a:t>
              </a:r>
              <a:endParaRPr kumimoji="1" lang="en-US" altLang="ko-KR" sz="1200" dirty="0">
                <a:solidFill>
                  <a:schemeClr val="bg1"/>
                </a:solidFill>
              </a:endParaRPr>
            </a:p>
            <a:p>
              <a:r>
                <a:rPr kumimoji="1" lang="ko-KR" altLang="en-US" sz="1200" dirty="0">
                  <a:solidFill>
                    <a:schemeClr val="bg1"/>
                  </a:solidFill>
                </a:rPr>
                <a:t>기류 및 가상 외기 역학 모사 체계 구축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57C1D89A-3399-722C-96FB-7084900262C4}"/>
              </a:ext>
            </a:extLst>
          </p:cNvPr>
          <p:cNvGrpSpPr/>
          <p:nvPr/>
        </p:nvGrpSpPr>
        <p:grpSpPr>
          <a:xfrm>
            <a:off x="8229803" y="5269539"/>
            <a:ext cx="3804256" cy="880849"/>
            <a:chOff x="448114" y="5232921"/>
            <a:chExt cx="3804256" cy="880849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B1A49F1D-1B19-45C6-B439-63EDE4C25A0C}"/>
                </a:ext>
              </a:extLst>
            </p:cNvPr>
            <p:cNvGrpSpPr/>
            <p:nvPr/>
          </p:nvGrpSpPr>
          <p:grpSpPr>
            <a:xfrm>
              <a:off x="448114" y="5432976"/>
              <a:ext cx="547973" cy="547973"/>
              <a:chOff x="448114" y="5432976"/>
              <a:chExt cx="547973" cy="547973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2E4F99FB-4F16-E0C2-2C48-2C0EF8F3B10C}"/>
                  </a:ext>
                </a:extLst>
              </p:cNvPr>
              <p:cNvSpPr/>
              <p:nvPr/>
            </p:nvSpPr>
            <p:spPr>
              <a:xfrm>
                <a:off x="448114" y="5432976"/>
                <a:ext cx="547973" cy="54797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C14755B-39C8-C8A2-47E5-1DBA5B8E4237}"/>
                  </a:ext>
                </a:extLst>
              </p:cNvPr>
              <p:cNvSpPr txBox="1"/>
              <p:nvPr/>
            </p:nvSpPr>
            <p:spPr>
              <a:xfrm>
                <a:off x="490056" y="5496968"/>
                <a:ext cx="4700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000" b="1" dirty="0">
                    <a:solidFill>
                      <a:schemeClr val="bg1"/>
                    </a:solidFill>
                  </a:rPr>
                  <a:t>03</a:t>
                </a:r>
                <a:endParaRPr kumimoji="1" lang="ko-KR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42460A4-586E-7726-CE4C-11DDAF9A6E23}"/>
                </a:ext>
              </a:extLst>
            </p:cNvPr>
            <p:cNvSpPr txBox="1"/>
            <p:nvPr/>
          </p:nvSpPr>
          <p:spPr>
            <a:xfrm>
              <a:off x="1038029" y="5232921"/>
              <a:ext cx="25490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000" b="1" dirty="0">
                  <a:solidFill>
                    <a:schemeClr val="bg1"/>
                  </a:solidFill>
                </a:rPr>
                <a:t>실데이터 </a:t>
              </a:r>
              <a:r>
                <a:rPr kumimoji="1" lang="en-US" altLang="ko-KR" sz="2000" b="1" dirty="0">
                  <a:solidFill>
                    <a:schemeClr val="bg1"/>
                  </a:solidFill>
                </a:rPr>
                <a:t>&amp;</a:t>
              </a:r>
              <a:r>
                <a:rPr kumimoji="1" lang="ko-KR" altLang="en-US" sz="2000" b="1" dirty="0">
                  <a:solidFill>
                    <a:schemeClr val="bg1"/>
                  </a:solidFill>
                </a:rPr>
                <a:t> </a:t>
              </a:r>
              <a:r>
                <a:rPr kumimoji="1" lang="en-US" altLang="ko-KR" sz="2000" b="1" dirty="0">
                  <a:solidFill>
                    <a:schemeClr val="bg1"/>
                  </a:solidFill>
                </a:rPr>
                <a:t>XAI </a:t>
              </a:r>
              <a:r>
                <a:rPr kumimoji="1" lang="ko-KR" altLang="en-US" sz="2000" b="1" dirty="0">
                  <a:solidFill>
                    <a:schemeClr val="bg1"/>
                  </a:solidFill>
                </a:rPr>
                <a:t>구축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9358B7F-4BF1-0C0A-1936-7EF2FC04ABC0}"/>
                </a:ext>
              </a:extLst>
            </p:cNvPr>
            <p:cNvSpPr txBox="1"/>
            <p:nvPr/>
          </p:nvSpPr>
          <p:spPr>
            <a:xfrm>
              <a:off x="1038029" y="5652105"/>
              <a:ext cx="32143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200" dirty="0">
                  <a:solidFill>
                    <a:schemeClr val="bg1"/>
                  </a:solidFill>
                </a:rPr>
                <a:t>설명가능한 인공지능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(XAI)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 탑재로</a:t>
              </a:r>
              <a:endParaRPr kumimoji="1" lang="en-US" altLang="ko-KR" sz="1200" dirty="0">
                <a:solidFill>
                  <a:schemeClr val="bg1"/>
                </a:solidFill>
              </a:endParaRPr>
            </a:p>
            <a:p>
              <a:r>
                <a:rPr kumimoji="1" lang="ko-KR" altLang="en-US" sz="1200" dirty="0">
                  <a:solidFill>
                    <a:schemeClr val="bg1"/>
                  </a:solidFill>
                </a:rPr>
                <a:t>제어 근거 시각화를 통한 신뢰성</a:t>
              </a:r>
              <a:r>
                <a:rPr kumimoji="1" lang="en-US" altLang="ko-KR" sz="1200" dirty="0">
                  <a:solidFill>
                    <a:schemeClr val="bg1"/>
                  </a:solidFill>
                </a:rPr>
                <a:t>/</a:t>
              </a:r>
              <a:r>
                <a:rPr kumimoji="1" lang="ko-KR" altLang="en-US" sz="1200" dirty="0">
                  <a:solidFill>
                    <a:schemeClr val="bg1"/>
                  </a:solidFill>
                </a:rPr>
                <a:t>안정성 확보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3923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6"/>
          <p:cNvSpPr txBox="1"/>
          <p:nvPr/>
        </p:nvSpPr>
        <p:spPr>
          <a:xfrm>
            <a:off x="455295" y="2503290"/>
            <a:ext cx="11281410" cy="925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 &amp; 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1770</Words>
  <Application>Microsoft Macintosh PowerPoint</Application>
  <PresentationFormat>와이드스크린</PresentationFormat>
  <Paragraphs>309</Paragraphs>
  <Slides>18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Calibri</vt:lpstr>
      <vt:lpstr>Arial</vt:lpstr>
      <vt:lpstr>맑은 고딕</vt:lpstr>
      <vt:lpstr>JetBrains Mono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김민경</dc:creator>
  <cp:lastModifiedBy>Kilhyun Kim</cp:lastModifiedBy>
  <cp:revision>35</cp:revision>
  <dcterms:modified xsi:type="dcterms:W3CDTF">2026-06-11T12:14:27Z</dcterms:modified>
</cp:coreProperties>
</file>